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4"/>
  </p:notesMasterIdLst>
  <p:sldIdLst>
    <p:sldId id="256" r:id="rId2"/>
    <p:sldId id="354" r:id="rId3"/>
    <p:sldId id="355" r:id="rId4"/>
    <p:sldId id="343" r:id="rId5"/>
    <p:sldId id="350" r:id="rId6"/>
    <p:sldId id="356" r:id="rId7"/>
    <p:sldId id="358" r:id="rId8"/>
    <p:sldId id="349" r:id="rId9"/>
    <p:sldId id="357" r:id="rId10"/>
    <p:sldId id="360" r:id="rId11"/>
    <p:sldId id="361" r:id="rId12"/>
    <p:sldId id="362" r:id="rId13"/>
    <p:sldId id="363" r:id="rId14"/>
    <p:sldId id="364" r:id="rId15"/>
    <p:sldId id="365" r:id="rId16"/>
    <p:sldId id="366" r:id="rId17"/>
    <p:sldId id="367" r:id="rId18"/>
    <p:sldId id="368" r:id="rId19"/>
    <p:sldId id="369" r:id="rId20"/>
    <p:sldId id="370" r:id="rId21"/>
    <p:sldId id="371" r:id="rId22"/>
    <p:sldId id="372" r:id="rId23"/>
    <p:sldId id="373" r:id="rId24"/>
    <p:sldId id="374" r:id="rId25"/>
    <p:sldId id="375" r:id="rId26"/>
    <p:sldId id="376" r:id="rId27"/>
    <p:sldId id="377" r:id="rId28"/>
    <p:sldId id="378" r:id="rId29"/>
    <p:sldId id="379" r:id="rId30"/>
    <p:sldId id="380" r:id="rId31"/>
    <p:sldId id="391" r:id="rId32"/>
    <p:sldId id="402" r:id="rId33"/>
    <p:sldId id="403" r:id="rId34"/>
    <p:sldId id="404" r:id="rId35"/>
    <p:sldId id="408" r:id="rId36"/>
    <p:sldId id="405" r:id="rId37"/>
    <p:sldId id="406" r:id="rId38"/>
    <p:sldId id="407" r:id="rId39"/>
    <p:sldId id="392" r:id="rId40"/>
    <p:sldId id="393" r:id="rId41"/>
    <p:sldId id="395" r:id="rId42"/>
    <p:sldId id="399" r:id="rId43"/>
    <p:sldId id="400" r:id="rId44"/>
    <p:sldId id="401" r:id="rId45"/>
    <p:sldId id="382" r:id="rId46"/>
    <p:sldId id="384" r:id="rId47"/>
    <p:sldId id="389" r:id="rId48"/>
    <p:sldId id="385" r:id="rId49"/>
    <p:sldId id="386" r:id="rId50"/>
    <p:sldId id="387" r:id="rId51"/>
    <p:sldId id="394" r:id="rId52"/>
    <p:sldId id="260" r:id="rId53"/>
  </p:sldIdLst>
  <p:sldSz cx="12192000" cy="6858000"/>
  <p:notesSz cx="6858000" cy="9144000"/>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AA8"/>
    <a:srgbClr val="032F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70" autoAdjust="0"/>
  </p:normalViewPr>
  <p:slideViewPr>
    <p:cSldViewPr showGuides="1">
      <p:cViewPr varScale="1">
        <p:scale>
          <a:sx n="87" d="100"/>
          <a:sy n="87" d="100"/>
        </p:scale>
        <p:origin x="39" y="66"/>
      </p:cViewPr>
      <p:guideLst>
        <p:guide orient="horz" pos="2160"/>
        <p:guide pos="37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1148625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2025/6/11</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xml"/><Relationship Id="rId7" Type="http://schemas.microsoft.com/office/2007/relationships/hdphoto" Target="../media/hdphoto2.wdp"/><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xml"/><Relationship Id="rId7" Type="http://schemas.microsoft.com/office/2007/relationships/hdphoto" Target="../media/hdphoto2.wdp"/><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xml"/><Relationship Id="rId7" Type="http://schemas.microsoft.com/office/2007/relationships/hdphoto" Target="../media/hdphoto2.wdp"/><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3.xml"/><Relationship Id="rId7" Type="http://schemas.microsoft.com/office/2007/relationships/hdphoto" Target="../media/hdphoto2.wdp"/><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6.xml"/><Relationship Id="rId7" Type="http://schemas.microsoft.com/office/2007/relationships/hdphoto" Target="../media/hdphoto2.wdp"/><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9.xml"/><Relationship Id="rId7" Type="http://schemas.microsoft.com/office/2007/relationships/hdphoto" Target="../media/hdphoto2.wdp"/><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2.xml"/><Relationship Id="rId7" Type="http://schemas.microsoft.com/office/2007/relationships/hdphoto" Target="../media/hdphoto2.wdp"/><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3.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5.xml"/><Relationship Id="rId7" Type="http://schemas.microsoft.com/office/2007/relationships/hdphoto" Target="../media/hdphoto2.wdp"/><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4.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8.xml"/><Relationship Id="rId7" Type="http://schemas.microsoft.com/office/2007/relationships/hdphoto" Target="../media/hdphoto2.wdp"/><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1.xml"/><Relationship Id="rId7" Type="http://schemas.microsoft.com/office/2007/relationships/hdphoto" Target="../media/hdphoto2.wdp"/><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4.xml"/><Relationship Id="rId7" Type="http://schemas.microsoft.com/office/2007/relationships/hdphoto" Target="../media/hdphoto2.wdp"/><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6.png"/><Relationship Id="rId11" Type="http://schemas.openxmlformats.org/officeDocument/2006/relationships/image" Target="../media/image18.png"/><Relationship Id="rId5" Type="http://schemas.openxmlformats.org/officeDocument/2006/relationships/image" Target="../media/image5.png"/><Relationship Id="rId10" Type="http://schemas.openxmlformats.org/officeDocument/2006/relationships/image" Target="../media/image17.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7.xml"/><Relationship Id="rId7" Type="http://schemas.microsoft.com/office/2007/relationships/hdphoto" Target="../media/hdphoto2.wdp"/><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0.xml"/><Relationship Id="rId7" Type="http://schemas.microsoft.com/office/2007/relationships/hdphoto" Target="../media/hdphoto2.wdp"/><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0.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3.xml"/><Relationship Id="rId7" Type="http://schemas.microsoft.com/office/2007/relationships/hdphoto" Target="../media/hdphoto2.wdp"/><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1.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6.xml"/><Relationship Id="rId7" Type="http://schemas.microsoft.com/office/2007/relationships/hdphoto" Target="../media/hdphoto2.wdp"/><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6.png"/><Relationship Id="rId11" Type="http://schemas.openxmlformats.org/officeDocument/2006/relationships/image" Target="../media/image23.png"/><Relationship Id="rId5" Type="http://schemas.openxmlformats.org/officeDocument/2006/relationships/image" Target="../media/image5.png"/><Relationship Id="rId10" Type="http://schemas.openxmlformats.org/officeDocument/2006/relationships/image" Target="../media/image22.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9.xml"/><Relationship Id="rId7" Type="http://schemas.microsoft.com/office/2007/relationships/hdphoto" Target="../media/hdphoto2.wdp"/><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4.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52.xml"/><Relationship Id="rId7" Type="http://schemas.microsoft.com/office/2007/relationships/hdphoto" Target="../media/hdphoto2.wdp"/><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55.xml"/><Relationship Id="rId7" Type="http://schemas.microsoft.com/office/2007/relationships/hdphoto" Target="../media/hdphoto2.wdp"/><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6.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58.xml"/><Relationship Id="rId7" Type="http://schemas.microsoft.com/office/2007/relationships/hdphoto" Target="../media/hdphoto2.wdp"/><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7.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tags" Target="../tags/tag61.xml"/><Relationship Id="rId7" Type="http://schemas.openxmlformats.org/officeDocument/2006/relationships/image" Target="../media/image6.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5.png"/><Relationship Id="rId11" Type="http://schemas.openxmlformats.org/officeDocument/2006/relationships/image" Target="../media/image28.png"/><Relationship Id="rId5" Type="http://schemas.openxmlformats.org/officeDocument/2006/relationships/notesSlide" Target="../notesSlides/notesSlide1.xml"/><Relationship Id="rId10" Type="http://schemas.openxmlformats.org/officeDocument/2006/relationships/image" Target="../media/image8.png"/><Relationship Id="rId4" Type="http://schemas.openxmlformats.org/officeDocument/2006/relationships/slideLayout" Target="../slideLayouts/slideLayout2.xml"/><Relationship Id="rId9" Type="http://schemas.openxmlformats.org/officeDocument/2006/relationships/image" Target="../media/image7.png"/></Relationships>
</file>

<file path=ppt/slides/_rels/slide2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4.xml"/><Relationship Id="rId7" Type="http://schemas.microsoft.com/office/2007/relationships/hdphoto" Target="../media/hdphoto2.wdp"/><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2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67.xml"/><Relationship Id="rId7" Type="http://schemas.microsoft.com/office/2007/relationships/hdphoto" Target="../media/hdphoto2.wdp"/><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0.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0.xml"/><Relationship Id="rId7" Type="http://schemas.microsoft.com/office/2007/relationships/hdphoto" Target="../media/hdphoto2.wdp"/><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1.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2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3.xml"/><Relationship Id="rId7" Type="http://schemas.microsoft.com/office/2007/relationships/hdphoto" Target="../media/hdphoto2.wdp"/><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2.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6.xml"/><Relationship Id="rId7" Type="http://schemas.microsoft.com/office/2007/relationships/hdphoto" Target="../media/hdphoto2.wdp"/><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3.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79.xml"/><Relationship Id="rId7" Type="http://schemas.microsoft.com/office/2007/relationships/hdphoto" Target="../media/hdphoto2.wdp"/><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4.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82.xml"/><Relationship Id="rId7" Type="http://schemas.microsoft.com/office/2007/relationships/hdphoto" Target="../media/hdphoto2.wdp"/><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85.xml"/><Relationship Id="rId7" Type="http://schemas.microsoft.com/office/2007/relationships/hdphoto" Target="../media/hdphoto2.wdp"/><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6.png"/><Relationship Id="rId11" Type="http://schemas.openxmlformats.org/officeDocument/2006/relationships/image" Target="../media/image37.png"/><Relationship Id="rId5" Type="http://schemas.openxmlformats.org/officeDocument/2006/relationships/image" Target="../media/image5.png"/><Relationship Id="rId10" Type="http://schemas.openxmlformats.org/officeDocument/2006/relationships/image" Target="../media/image36.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88.xml"/><Relationship Id="rId7" Type="http://schemas.microsoft.com/office/2007/relationships/hdphoto" Target="../media/hdphoto2.wdp"/><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8.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91.xml"/><Relationship Id="rId7" Type="http://schemas.microsoft.com/office/2007/relationships/hdphoto" Target="../media/hdphoto2.wdp"/><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3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94.xml"/><Relationship Id="rId7" Type="http://schemas.microsoft.com/office/2007/relationships/hdphoto" Target="../media/hdphoto2.wdp"/><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0.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97.xml"/><Relationship Id="rId7" Type="http://schemas.microsoft.com/office/2007/relationships/hdphoto" Target="../media/hdphoto2.wdp"/><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1.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0.xml"/><Relationship Id="rId7" Type="http://schemas.microsoft.com/office/2007/relationships/hdphoto" Target="../media/hdphoto2.wdp"/><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2.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3.xml"/><Relationship Id="rId7" Type="http://schemas.microsoft.com/office/2007/relationships/hdphoto" Target="../media/hdphoto2.wdp"/><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3.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6.xml"/><Relationship Id="rId7" Type="http://schemas.microsoft.com/office/2007/relationships/hdphoto" Target="../media/hdphoto2.wdp"/><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4.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09.xml"/><Relationship Id="rId7" Type="http://schemas.microsoft.com/office/2007/relationships/hdphoto" Target="../media/hdphoto2.wdp"/><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12.xml"/><Relationship Id="rId7" Type="http://schemas.microsoft.com/office/2007/relationships/hdphoto" Target="../media/hdphoto2.wdp"/><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46.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15.xml"/><Relationship Id="rId7" Type="http://schemas.microsoft.com/office/2007/relationships/hdphoto" Target="../media/hdphoto2.wdp"/><Relationship Id="rId2" Type="http://schemas.openxmlformats.org/officeDocument/2006/relationships/tags" Target="../tags/tag114.xml"/><Relationship Id="rId1" Type="http://schemas.openxmlformats.org/officeDocument/2006/relationships/tags" Target="../tags/tag113.xml"/><Relationship Id="rId6" Type="http://schemas.openxmlformats.org/officeDocument/2006/relationships/image" Target="../media/image6.png"/><Relationship Id="rId11" Type="http://schemas.openxmlformats.org/officeDocument/2006/relationships/image" Target="../media/image48.png"/><Relationship Id="rId5" Type="http://schemas.openxmlformats.org/officeDocument/2006/relationships/image" Target="../media/image5.png"/><Relationship Id="rId10" Type="http://schemas.openxmlformats.org/officeDocument/2006/relationships/image" Target="../media/image47.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18.xml"/><Relationship Id="rId7" Type="http://schemas.microsoft.com/office/2007/relationships/hdphoto" Target="../media/hdphoto2.wdp"/><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6.png"/><Relationship Id="rId11" Type="http://schemas.openxmlformats.org/officeDocument/2006/relationships/image" Target="../media/image50.png"/><Relationship Id="rId5" Type="http://schemas.openxmlformats.org/officeDocument/2006/relationships/image" Target="../media/image5.png"/><Relationship Id="rId10" Type="http://schemas.openxmlformats.org/officeDocument/2006/relationships/image" Target="../media/image49.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21.xml"/><Relationship Id="rId7" Type="http://schemas.microsoft.com/office/2007/relationships/hdphoto" Target="../media/hdphoto2.wdp"/><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51.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24.xml"/><Relationship Id="rId7" Type="http://schemas.microsoft.com/office/2007/relationships/hdphoto" Target="../media/hdphoto2.wdp"/><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52.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27.xml"/><Relationship Id="rId7" Type="http://schemas.microsoft.com/office/2007/relationships/hdphoto" Target="../media/hdphoto2.wdp"/><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6.png"/><Relationship Id="rId11" Type="http://schemas.openxmlformats.org/officeDocument/2006/relationships/image" Target="../media/image54.png"/><Relationship Id="rId5" Type="http://schemas.openxmlformats.org/officeDocument/2006/relationships/image" Target="../media/image5.png"/><Relationship Id="rId10" Type="http://schemas.openxmlformats.org/officeDocument/2006/relationships/image" Target="../media/image53.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4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30.xml"/><Relationship Id="rId7" Type="http://schemas.microsoft.com/office/2007/relationships/hdphoto" Target="../media/hdphoto2.wdp"/><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6.png"/><Relationship Id="rId11" Type="http://schemas.openxmlformats.org/officeDocument/2006/relationships/image" Target="../media/image56.png"/><Relationship Id="rId5" Type="http://schemas.openxmlformats.org/officeDocument/2006/relationships/image" Target="../media/image5.png"/><Relationship Id="rId10" Type="http://schemas.openxmlformats.org/officeDocument/2006/relationships/image" Target="../media/image55.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5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33.xml"/><Relationship Id="rId7" Type="http://schemas.microsoft.com/office/2007/relationships/hdphoto" Target="../media/hdphoto2.wdp"/><Relationship Id="rId12" Type="http://schemas.openxmlformats.org/officeDocument/2006/relationships/image" Target="../media/image59.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6.png"/><Relationship Id="rId11" Type="http://schemas.openxmlformats.org/officeDocument/2006/relationships/image" Target="../media/image58.png"/><Relationship Id="rId5" Type="http://schemas.openxmlformats.org/officeDocument/2006/relationships/image" Target="../media/image5.png"/><Relationship Id="rId10" Type="http://schemas.openxmlformats.org/officeDocument/2006/relationships/image" Target="../media/image57.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5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36.xml"/><Relationship Id="rId7" Type="http://schemas.microsoft.com/office/2007/relationships/hdphoto" Target="../media/hdphoto2.wdp"/><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image" Target="../media/image6.png"/><Relationship Id="rId11" Type="http://schemas.openxmlformats.org/officeDocument/2006/relationships/image" Target="../media/image61.png"/><Relationship Id="rId5" Type="http://schemas.openxmlformats.org/officeDocument/2006/relationships/image" Target="../media/image5.png"/><Relationship Id="rId10" Type="http://schemas.openxmlformats.org/officeDocument/2006/relationships/image" Target="../media/image60.png"/><Relationship Id="rId4" Type="http://schemas.openxmlformats.org/officeDocument/2006/relationships/slideLayout" Target="../slideLayouts/slideLayout2.xml"/><Relationship Id="rId9" Type="http://schemas.openxmlformats.org/officeDocument/2006/relationships/image" Target="../media/image8.png"/></Relationships>
</file>

<file path=ppt/slides/_rels/slide5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63.png"/><Relationship Id="rId7" Type="http://schemas.openxmlformats.org/officeDocument/2006/relationships/image" Target="../media/image4.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 y="-13219"/>
            <a:ext cx="12190476" cy="6871219"/>
          </a:xfrm>
          <a:prstGeom prst="rect">
            <a:avLst/>
          </a:prstGeom>
        </p:spPr>
      </p:pic>
      <p:grpSp>
        <p:nvGrpSpPr>
          <p:cNvPr id="20" name="组合 19"/>
          <p:cNvGrpSpPr/>
          <p:nvPr/>
        </p:nvGrpSpPr>
        <p:grpSpPr>
          <a:xfrm>
            <a:off x="3632842" y="908720"/>
            <a:ext cx="4494267" cy="1317770"/>
            <a:chOff x="9483436" y="3338490"/>
            <a:chExt cx="2493150" cy="73102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4" name="文本框 23"/>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grpSp>
        <p:nvGrpSpPr>
          <p:cNvPr id="25" name="组合 24"/>
          <p:cNvGrpSpPr/>
          <p:nvPr/>
        </p:nvGrpSpPr>
        <p:grpSpPr>
          <a:xfrm>
            <a:off x="1055440" y="2924944"/>
            <a:ext cx="9649072" cy="2385777"/>
            <a:chOff x="1271458" y="2913995"/>
            <a:chExt cx="9649072" cy="2385777"/>
          </a:xfrm>
        </p:grpSpPr>
        <p:sp>
          <p:nvSpPr>
            <p:cNvPr id="26" name="文本框 25"/>
            <p:cNvSpPr txBox="1"/>
            <p:nvPr/>
          </p:nvSpPr>
          <p:spPr>
            <a:xfrm>
              <a:off x="1271458" y="2913995"/>
              <a:ext cx="9592945" cy="923330"/>
            </a:xfrm>
            <a:prstGeom prst="rect">
              <a:avLst/>
            </a:prstGeom>
            <a:noFill/>
          </p:spPr>
          <p:txBody>
            <a:bodyPr wrap="square" rtlCol="0">
              <a:spAutoFit/>
            </a:bodyPr>
            <a:lstStyle/>
            <a:p>
              <a:pPr algn="ctr"/>
              <a:r>
                <a:rPr lang="zh-CN" altLang="en-US" sz="5400" b="1" dirty="0">
                  <a:solidFill>
                    <a:schemeClr val="bg1"/>
                  </a:solidFill>
                  <a:latin typeface="黑体" panose="02010609060101010101" charset="-122"/>
                  <a:ea typeface="黑体" panose="02010609060101010101" charset="-122"/>
                </a:rPr>
                <a:t>校园网搭建项目汇报</a:t>
              </a:r>
              <a:endParaRPr lang="zh-CN" altLang="en-US" sz="3600" b="1" dirty="0">
                <a:solidFill>
                  <a:schemeClr val="bg1"/>
                </a:solidFill>
                <a:latin typeface="黑体" panose="02010609060101010101" charset="-122"/>
                <a:ea typeface="黑体" panose="02010609060101010101" charset="-122"/>
              </a:endParaRPr>
            </a:p>
          </p:txBody>
        </p:sp>
        <p:cxnSp>
          <p:nvCxnSpPr>
            <p:cNvPr id="27" name="直接连接符 26"/>
            <p:cNvCxnSpPr/>
            <p:nvPr/>
          </p:nvCxnSpPr>
          <p:spPr>
            <a:xfrm>
              <a:off x="1271458" y="4725144"/>
              <a:ext cx="96490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852181" y="4906716"/>
              <a:ext cx="6487674" cy="393056"/>
            </a:xfrm>
            <a:prstGeom prst="rect">
              <a:avLst/>
            </a:prstGeom>
            <a:noFill/>
          </p:spPr>
          <p:txBody>
            <a:bodyPr wrap="none" rtlCol="0">
              <a:spAutoFit/>
            </a:bodyPr>
            <a:lstStyle/>
            <a:p>
              <a:pPr algn="ctr">
                <a:lnSpc>
                  <a:spcPct val="126000"/>
                </a:lnSpc>
              </a:pPr>
              <a:r>
                <a:rPr lang="zh-CN" altLang="en-US" b="1" dirty="0">
                  <a:solidFill>
                    <a:schemeClr val="bg1"/>
                  </a:solidFill>
                  <a:latin typeface="黑体" panose="02010609060101010101" charset="-122"/>
                  <a:ea typeface="黑体" panose="02010609060101010101" charset="-122"/>
                </a:rPr>
                <a:t>汇报人：</a:t>
              </a:r>
              <a:r>
                <a:rPr lang="en-US" altLang="zh-CN" b="1" dirty="0">
                  <a:solidFill>
                    <a:schemeClr val="bg1"/>
                  </a:solidFill>
                  <a:latin typeface="黑体" panose="02010609060101010101" charset="-122"/>
                  <a:ea typeface="黑体" panose="02010609060101010101" charset="-122"/>
                </a:rPr>
                <a:t>2351289 </a:t>
              </a:r>
              <a:r>
                <a:rPr lang="zh-CN" altLang="en-US" b="1" dirty="0">
                  <a:solidFill>
                    <a:schemeClr val="bg1"/>
                  </a:solidFill>
                  <a:latin typeface="黑体" panose="02010609060101010101" charset="-122"/>
                  <a:ea typeface="黑体" panose="02010609060101010101" charset="-122"/>
                </a:rPr>
                <a:t>周慧星  </a:t>
              </a:r>
              <a:r>
                <a:rPr lang="en-US" altLang="zh-CN" b="1" dirty="0">
                  <a:solidFill>
                    <a:schemeClr val="bg1"/>
                  </a:solidFill>
                  <a:latin typeface="黑体" panose="02010609060101010101" charset="-122"/>
                  <a:ea typeface="黑体" panose="02010609060101010101" charset="-122"/>
                </a:rPr>
                <a:t>2353815 </a:t>
              </a:r>
              <a:r>
                <a:rPr lang="zh-CN" altLang="en-US" b="1" dirty="0">
                  <a:solidFill>
                    <a:schemeClr val="bg1"/>
                  </a:solidFill>
                  <a:latin typeface="黑体" panose="02010609060101010101" charset="-122"/>
                  <a:ea typeface="黑体" panose="02010609060101010101" charset="-122"/>
                </a:rPr>
                <a:t>李昊   </a:t>
              </a:r>
              <a:r>
                <a:rPr lang="en-US" altLang="zh-CN" b="1" dirty="0">
                  <a:solidFill>
                    <a:schemeClr val="bg1"/>
                  </a:solidFill>
                  <a:latin typeface="黑体" panose="02010609060101010101" charset="-122"/>
                  <a:ea typeface="黑体" panose="02010609060101010101" charset="-122"/>
                </a:rPr>
                <a:t>2351131 </a:t>
              </a:r>
              <a:r>
                <a:rPr lang="zh-CN" altLang="en-US" b="1" dirty="0">
                  <a:solidFill>
                    <a:schemeClr val="bg1"/>
                  </a:solidFill>
                  <a:latin typeface="黑体" panose="02010609060101010101" charset="-122"/>
                  <a:ea typeface="黑体" panose="02010609060101010101" charset="-122"/>
                </a:rPr>
                <a:t>韦世贸</a:t>
              </a:r>
            </a:p>
          </p:txBody>
        </p:sp>
      </p:grpSp>
      <p:pic>
        <p:nvPicPr>
          <p:cNvPr id="30" name="图片 29"/>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29817"/>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3" name="文本占位符 4"/>
          <p:cNvSpPr txBox="1"/>
          <p:nvPr/>
        </p:nvSpPr>
        <p:spPr>
          <a:xfrm>
            <a:off x="1846943" y="359744"/>
            <a:ext cx="7894937"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sz="3200" b="1" spc="600" dirty="0">
                <a:solidFill>
                  <a:srgbClr val="0B5AA8"/>
                </a:solidFill>
                <a:latin typeface="+mj-lt"/>
                <a:ea typeface="迷你简菱心" panose="02010609000101010101" pitchFamily="49" charset="-122"/>
              </a:rPr>
              <a:t>目录</a:t>
            </a:r>
            <a:endParaRPr lang="zh-CN" altLang="en-US" sz="3200" b="1" spc="600" dirty="0">
              <a:solidFill>
                <a:srgbClr val="0B5AA8"/>
              </a:solidFill>
              <a:latin typeface="迷你简菱心" panose="02010609000101010101" pitchFamily="49" charset="-122"/>
              <a:ea typeface="迷你简菱心" panose="02010609000101010101" pitchFamily="49" charset="-122"/>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68109" y="1727753"/>
            <a:ext cx="11045190" cy="523220"/>
          </a:xfrm>
          <a:prstGeom prst="rect">
            <a:avLst/>
          </a:prstGeom>
          <a:noFill/>
        </p:spPr>
        <p:txBody>
          <a:bodyPr wrap="square" rtlCol="0">
            <a:spAutoFit/>
          </a:bodyPr>
          <a:lstStyle/>
          <a:p>
            <a:r>
              <a:rPr lang="zh-CN" altLang="en-US" sz="2800" b="1" dirty="0">
                <a:solidFill>
                  <a:schemeClr val="tx2">
                    <a:lumMod val="75000"/>
                  </a:schemeClr>
                </a:solidFill>
                <a:ea typeface="迷你简菱心" panose="02010609000101010101"/>
              </a:rPr>
              <a:t>一、项目概述</a:t>
            </a: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3" name="文本框 22"/>
          <p:cNvSpPr txBox="1"/>
          <p:nvPr/>
        </p:nvSpPr>
        <p:spPr>
          <a:xfrm>
            <a:off x="568109" y="2578847"/>
            <a:ext cx="11045190" cy="523220"/>
          </a:xfrm>
          <a:prstGeom prst="rect">
            <a:avLst/>
          </a:prstGeom>
          <a:noFill/>
        </p:spPr>
        <p:txBody>
          <a:bodyPr wrap="square" rtlCol="0">
            <a:spAutoFit/>
          </a:bodyPr>
          <a:lstStyle/>
          <a:p>
            <a:r>
              <a:rPr lang="zh-CN" altLang="en-US" sz="2800" b="1" dirty="0">
                <a:solidFill>
                  <a:schemeClr val="tx2">
                    <a:lumMod val="75000"/>
                  </a:schemeClr>
                </a:solidFill>
                <a:ea typeface="迷你简菱心" panose="02010609000101010101"/>
              </a:rPr>
              <a:t>二、网络设计</a:t>
            </a:r>
          </a:p>
        </p:txBody>
      </p:sp>
      <p:sp>
        <p:nvSpPr>
          <p:cNvPr id="24" name="文本框 23"/>
          <p:cNvSpPr txBox="1"/>
          <p:nvPr/>
        </p:nvSpPr>
        <p:spPr>
          <a:xfrm>
            <a:off x="609600" y="3474025"/>
            <a:ext cx="11045190" cy="523220"/>
          </a:xfrm>
          <a:prstGeom prst="rect">
            <a:avLst/>
          </a:prstGeom>
          <a:noFill/>
        </p:spPr>
        <p:txBody>
          <a:bodyPr wrap="square" rtlCol="0">
            <a:spAutoFit/>
          </a:bodyPr>
          <a:lstStyle/>
          <a:p>
            <a:r>
              <a:rPr lang="zh-CN" altLang="en-US" sz="2800" b="1" dirty="0">
                <a:solidFill>
                  <a:schemeClr val="tx2">
                    <a:lumMod val="75000"/>
                  </a:schemeClr>
                </a:solidFill>
                <a:ea typeface="迷你简菱心" panose="02010609000101010101"/>
              </a:rPr>
              <a:t>三、各项配置</a:t>
            </a:r>
          </a:p>
        </p:txBody>
      </p:sp>
      <p:sp>
        <p:nvSpPr>
          <p:cNvPr id="25" name="文本框 24"/>
          <p:cNvSpPr txBox="1"/>
          <p:nvPr/>
        </p:nvSpPr>
        <p:spPr>
          <a:xfrm>
            <a:off x="644555" y="4413709"/>
            <a:ext cx="11045190" cy="523220"/>
          </a:xfrm>
          <a:prstGeom prst="rect">
            <a:avLst/>
          </a:prstGeom>
          <a:noFill/>
        </p:spPr>
        <p:txBody>
          <a:bodyPr wrap="square" rtlCol="0">
            <a:spAutoFit/>
          </a:bodyPr>
          <a:lstStyle/>
          <a:p>
            <a:r>
              <a:rPr lang="zh-CN" altLang="en-US" sz="2800" b="1" dirty="0">
                <a:solidFill>
                  <a:schemeClr val="tx2">
                    <a:lumMod val="75000"/>
                  </a:schemeClr>
                </a:solidFill>
                <a:ea typeface="迷你简菱心" panose="02010609000101010101"/>
              </a:rPr>
              <a:t>四、测试情况</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 y="-13219"/>
            <a:ext cx="12190476" cy="6871219"/>
          </a:xfrm>
          <a:prstGeom prst="rect">
            <a:avLst/>
          </a:prstGeom>
        </p:spPr>
      </p:pic>
      <p:grpSp>
        <p:nvGrpSpPr>
          <p:cNvPr id="20" name="组合 19"/>
          <p:cNvGrpSpPr/>
          <p:nvPr/>
        </p:nvGrpSpPr>
        <p:grpSpPr>
          <a:xfrm>
            <a:off x="3632842" y="908720"/>
            <a:ext cx="4494267" cy="1317770"/>
            <a:chOff x="9483436" y="3338490"/>
            <a:chExt cx="2493150" cy="73102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4" name="文本框 23"/>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grpSp>
        <p:nvGrpSpPr>
          <p:cNvPr id="25" name="组合 24"/>
          <p:cNvGrpSpPr/>
          <p:nvPr/>
        </p:nvGrpSpPr>
        <p:grpSpPr>
          <a:xfrm>
            <a:off x="1055440" y="2428980"/>
            <a:ext cx="9649072" cy="2881741"/>
            <a:chOff x="1271458" y="2418031"/>
            <a:chExt cx="9649072" cy="2881741"/>
          </a:xfrm>
        </p:grpSpPr>
        <p:sp>
          <p:nvSpPr>
            <p:cNvPr id="26" name="文本框 25"/>
            <p:cNvSpPr txBox="1"/>
            <p:nvPr/>
          </p:nvSpPr>
          <p:spPr>
            <a:xfrm>
              <a:off x="1271458" y="2418031"/>
              <a:ext cx="9592945" cy="923330"/>
            </a:xfrm>
            <a:prstGeom prst="rect">
              <a:avLst/>
            </a:prstGeom>
            <a:noFill/>
          </p:spPr>
          <p:txBody>
            <a:bodyPr wrap="square" rtlCol="0">
              <a:spAutoFit/>
            </a:bodyPr>
            <a:lstStyle/>
            <a:p>
              <a:pPr algn="ctr"/>
              <a:r>
                <a:rPr lang="zh-CN" altLang="en-US" sz="5400" b="1" dirty="0">
                  <a:solidFill>
                    <a:schemeClr val="bg1"/>
                  </a:solidFill>
                  <a:latin typeface="黑体" panose="02010609060101010101" charset="-122"/>
                  <a:ea typeface="黑体" panose="02010609060101010101" charset="-122"/>
                </a:rPr>
                <a:t>项目概述</a:t>
              </a:r>
            </a:p>
          </p:txBody>
        </p:sp>
        <p:cxnSp>
          <p:nvCxnSpPr>
            <p:cNvPr id="27" name="直接连接符 26"/>
            <p:cNvCxnSpPr/>
            <p:nvPr/>
          </p:nvCxnSpPr>
          <p:spPr>
            <a:xfrm>
              <a:off x="1271458" y="4725144"/>
              <a:ext cx="96490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03641" y="4906716"/>
              <a:ext cx="184730" cy="393056"/>
            </a:xfrm>
            <a:prstGeom prst="rect">
              <a:avLst/>
            </a:prstGeom>
            <a:noFill/>
          </p:spPr>
          <p:txBody>
            <a:bodyPr wrap="none" rtlCol="0">
              <a:spAutoFit/>
            </a:bodyPr>
            <a:lstStyle/>
            <a:p>
              <a:pPr algn="ctr">
                <a:lnSpc>
                  <a:spcPct val="126000"/>
                </a:lnSpc>
              </a:pPr>
              <a:endParaRPr lang="zh-CN" altLang="en-US" b="1" dirty="0">
                <a:solidFill>
                  <a:schemeClr val="bg1"/>
                </a:solidFill>
                <a:latin typeface="黑体" panose="02010609060101010101" charset="-122"/>
                <a:ea typeface="黑体" panose="02010609060101010101" charset="-122"/>
              </a:endParaRPr>
            </a:p>
          </p:txBody>
        </p:sp>
      </p:grpSp>
      <p:pic>
        <p:nvPicPr>
          <p:cNvPr id="30" name="图片 29"/>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54374" y="399268"/>
            <a:ext cx="473207"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01</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54355" y="1195705"/>
            <a:ext cx="11045190" cy="3724096"/>
          </a:xfrm>
          <a:prstGeom prst="rect">
            <a:avLst/>
          </a:prstGeom>
          <a:noFill/>
        </p:spPr>
        <p:txBody>
          <a:bodyPr wrap="square" rtlCol="0">
            <a:spAutoFit/>
          </a:bodyPr>
          <a:lstStyle/>
          <a:p>
            <a:pPr marL="0" marR="0" algn="ctr">
              <a:spcBef>
                <a:spcPts val="0"/>
              </a:spcBef>
              <a:spcAft>
                <a:spcPts val="0"/>
              </a:spcAft>
            </a:pPr>
            <a:r>
              <a:rPr lang="zh-CN" altLang="en-US" sz="4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项目目标</a:t>
            </a:r>
            <a:endParaRPr lang="en-US" altLang="zh-CN" sz="4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8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8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8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8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      搭建一个可扩展、安全隔离的校园网络，满足教学、娱乐、办公、服务等场景的网络需求，实现各区间逻辑隔离、资源共享及互联网接入，并为后续网络优化提供基础架构。</a:t>
            </a:r>
            <a:endParaRPr lang="en-US" altLang="zh-CN" sz="28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8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sz="3200" b="1" spc="-150" dirty="0">
                <a:solidFill>
                  <a:srgbClr val="0B5AA8"/>
                </a:solidFill>
                <a:ea typeface="迷你简菱心" panose="02010609000101010101" pitchFamily="49" charset="-122"/>
              </a:rPr>
              <a:t>项目概述</a:t>
            </a:r>
            <a:endParaRPr kumimoji="0" lang="zh-CN" altLang="en-US" sz="3200" b="1" i="0" u="none" strike="noStrike" kern="1200" cap="none" spc="-15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54374" y="399268"/>
            <a:ext cx="473207"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01</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54355" y="1268760"/>
            <a:ext cx="7989917" cy="4154984"/>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网络分区与隔离：</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1.</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部门独立局域网：通过</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，为每个部门划分独立网络区域（如学院、宿舍、行政），确保部门内数据隔离，禁止未经授权的跨部门访问。</a:t>
            </a:r>
          </a:p>
          <a:p>
            <a:pPr marL="0" marR="0" algn="just">
              <a:spcBef>
                <a:spcPts val="0"/>
              </a:spcBef>
              <a:spcAft>
                <a:spcPts val="0"/>
              </a:spcAft>
            </a:pP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2.</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公用服务区：设置全校共享的核心服务区（如</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DHCP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DNS</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File</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文件服务器），允许所有部门访问。</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algn="just"/>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互联网接入：</a:t>
            </a:r>
            <a:endPar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统一出口：通过单一互联网接口连接外网，配置</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NAT</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（网络地址转换）实现内网</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共享公网</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对外服务：部分可被外网访问的服务器（如学校官网、邮件服务器），配置固定公网</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项目概述</a:t>
            </a:r>
            <a:endParaRPr lang="zh-CN" altLang="en-US" sz="3200" b="1" spc="600" dirty="0">
              <a:solidFill>
                <a:srgbClr val="0B5AA8"/>
              </a:solidFill>
              <a:ea typeface="迷你简菱心" panose="02010609000101010101" pitchFamily="49" charset="-122"/>
            </a:endParaRPr>
          </a:p>
        </p:txBody>
      </p:sp>
      <p:pic>
        <p:nvPicPr>
          <p:cNvPr id="23" name="图片 22"/>
          <p:cNvPicPr>
            <a:picLocks noChangeAspect="1"/>
          </p:cNvPicPr>
          <p:nvPr/>
        </p:nvPicPr>
        <p:blipFill>
          <a:blip r:embed="rId10"/>
          <a:stretch>
            <a:fillRect/>
          </a:stretch>
        </p:blipFill>
        <p:spPr>
          <a:xfrm>
            <a:off x="8760296" y="2636912"/>
            <a:ext cx="3096344" cy="29923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54374" y="399268"/>
            <a:ext cx="473207"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01</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95401" y="2010128"/>
            <a:ext cx="7989917" cy="2677656"/>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基础服务部署：</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1.</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服务器类型：</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机房配置全校公用各类服务器</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；部分部门配备独立的</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Web</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服务器、文件服务器；对外服务的学校官网服务器、邮件服务器。</a:t>
            </a:r>
          </a:p>
          <a:p>
            <a:pPr marL="0" marR="0" algn="just">
              <a:spcBef>
                <a:spcPts val="0"/>
              </a:spcBef>
              <a:spcAft>
                <a:spcPts val="0"/>
              </a:spcAft>
            </a:pP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2.</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无线覆盖：在各区域部署</a:t>
            </a:r>
            <a:r>
              <a:rPr lang="en-US" altLang="zh-CN" sz="2400" kern="100" dirty="0" err="1">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WiFi</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，支持移动设备接入（如笔记本、手机）。用</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RADIUS</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服务器实现类似校园网的</a:t>
            </a:r>
            <a:r>
              <a:rPr lang="en-US" altLang="zh-CN" sz="2400" kern="100" dirty="0" err="1">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WiFi</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用户认证功能。</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项目概述</a:t>
            </a:r>
            <a:endParaRPr lang="zh-CN" altLang="en-US" sz="3200" b="1" spc="600" dirty="0">
              <a:solidFill>
                <a:srgbClr val="0B5AA8"/>
              </a:solidFill>
              <a:ea typeface="迷你简菱心" panose="02010609000101010101" pitchFamily="49" charset="-122"/>
            </a:endParaRPr>
          </a:p>
        </p:txBody>
      </p:sp>
      <p:pic>
        <p:nvPicPr>
          <p:cNvPr id="23" name="图片 22"/>
          <p:cNvPicPr>
            <a:picLocks noChangeAspect="1"/>
          </p:cNvPicPr>
          <p:nvPr/>
        </p:nvPicPr>
        <p:blipFill>
          <a:blip r:embed="rId10"/>
          <a:stretch>
            <a:fillRect/>
          </a:stretch>
        </p:blipFill>
        <p:spPr>
          <a:xfrm>
            <a:off x="8760296" y="2636912"/>
            <a:ext cx="3096344" cy="29923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 y="-13219"/>
            <a:ext cx="12190476" cy="6871219"/>
          </a:xfrm>
          <a:prstGeom prst="rect">
            <a:avLst/>
          </a:prstGeom>
        </p:spPr>
      </p:pic>
      <p:grpSp>
        <p:nvGrpSpPr>
          <p:cNvPr id="20" name="组合 19"/>
          <p:cNvGrpSpPr/>
          <p:nvPr/>
        </p:nvGrpSpPr>
        <p:grpSpPr>
          <a:xfrm>
            <a:off x="3632842" y="908720"/>
            <a:ext cx="4494267" cy="1317770"/>
            <a:chOff x="9483436" y="3338490"/>
            <a:chExt cx="2493150" cy="73102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4" name="文本框 23"/>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grpSp>
        <p:nvGrpSpPr>
          <p:cNvPr id="25" name="组合 24"/>
          <p:cNvGrpSpPr/>
          <p:nvPr/>
        </p:nvGrpSpPr>
        <p:grpSpPr>
          <a:xfrm>
            <a:off x="1055440" y="2428980"/>
            <a:ext cx="9649072" cy="2881741"/>
            <a:chOff x="1271458" y="2418031"/>
            <a:chExt cx="9649072" cy="2881741"/>
          </a:xfrm>
        </p:grpSpPr>
        <p:sp>
          <p:nvSpPr>
            <p:cNvPr id="26" name="文本框 25"/>
            <p:cNvSpPr txBox="1"/>
            <p:nvPr/>
          </p:nvSpPr>
          <p:spPr>
            <a:xfrm>
              <a:off x="1271458" y="2418031"/>
              <a:ext cx="9592945" cy="923330"/>
            </a:xfrm>
            <a:prstGeom prst="rect">
              <a:avLst/>
            </a:prstGeom>
            <a:noFill/>
          </p:spPr>
          <p:txBody>
            <a:bodyPr wrap="square" rtlCol="0">
              <a:spAutoFit/>
            </a:bodyPr>
            <a:lstStyle/>
            <a:p>
              <a:pPr algn="ctr"/>
              <a:r>
                <a:rPr lang="zh-CN" altLang="en-US" sz="5400" b="1" dirty="0">
                  <a:solidFill>
                    <a:schemeClr val="bg1"/>
                  </a:solidFill>
                  <a:latin typeface="黑体" panose="02010609060101010101" charset="-122"/>
                  <a:ea typeface="黑体" panose="02010609060101010101" charset="-122"/>
                </a:rPr>
                <a:t>网络设计</a:t>
              </a:r>
            </a:p>
          </p:txBody>
        </p:sp>
        <p:cxnSp>
          <p:nvCxnSpPr>
            <p:cNvPr id="27" name="直接连接符 26"/>
            <p:cNvCxnSpPr/>
            <p:nvPr/>
          </p:nvCxnSpPr>
          <p:spPr>
            <a:xfrm>
              <a:off x="1271458" y="4725144"/>
              <a:ext cx="96490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03641" y="4906716"/>
              <a:ext cx="184730" cy="393056"/>
            </a:xfrm>
            <a:prstGeom prst="rect">
              <a:avLst/>
            </a:prstGeom>
            <a:noFill/>
          </p:spPr>
          <p:txBody>
            <a:bodyPr wrap="none" rtlCol="0">
              <a:spAutoFit/>
            </a:bodyPr>
            <a:lstStyle/>
            <a:p>
              <a:pPr algn="ctr">
                <a:lnSpc>
                  <a:spcPct val="126000"/>
                </a:lnSpc>
              </a:pPr>
              <a:endParaRPr lang="zh-CN" altLang="en-US" b="1" dirty="0">
                <a:solidFill>
                  <a:schemeClr val="bg1"/>
                </a:solidFill>
                <a:latin typeface="黑体" panose="02010609060101010101" charset="-122"/>
                <a:ea typeface="黑体" panose="02010609060101010101" charset="-122"/>
              </a:endParaRPr>
            </a:p>
          </p:txBody>
        </p:sp>
      </p:grpSp>
      <p:pic>
        <p:nvPicPr>
          <p:cNvPr id="30" name="图片 29"/>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13" y="-34280"/>
            <a:ext cx="12191999" cy="6858000"/>
          </a:xfrm>
        </p:spPr>
      </p:pic>
      <p:pic>
        <p:nvPicPr>
          <p:cNvPr id="6" name="图片 5">
            <a:extLst>
              <a:ext uri="{FF2B5EF4-FFF2-40B4-BE49-F238E27FC236}">
                <a16:creationId xmlns:a16="http://schemas.microsoft.com/office/drawing/2014/main" id="{743FF138-132C-8A22-5F93-25352E11D031}"/>
              </a:ext>
            </a:extLst>
          </p:cNvPr>
          <p:cNvPicPr>
            <a:picLocks noChangeAspect="1"/>
          </p:cNvPicPr>
          <p:nvPr/>
        </p:nvPicPr>
        <p:blipFill>
          <a:blip r:embed="rId3"/>
          <a:stretch>
            <a:fillRect/>
          </a:stretch>
        </p:blipFill>
        <p:spPr>
          <a:xfrm>
            <a:off x="847052" y="-16514"/>
            <a:ext cx="10497895" cy="6858000"/>
          </a:xfrm>
          <a:prstGeom prst="rect">
            <a:avLst/>
          </a:prstGeom>
        </p:spPr>
      </p:pic>
      <p:sp>
        <p:nvSpPr>
          <p:cNvPr id="7" name="矩形 6"/>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endParaRPr lang="zh-CN" altLang="en-US" b="1">
              <a:solidFill>
                <a:schemeClr val="tx1"/>
              </a:solidFill>
              <a:latin typeface="Agency FB" panose="020B0503020202020204" pitchFamily="34" charset="0"/>
            </a:endParaRPr>
          </a:p>
        </p:txBody>
      </p:sp>
      <p:sp>
        <p:nvSpPr>
          <p:cNvPr id="8" name="矩形 7"/>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endParaRPr lang="zh-CN" altLang="en-US" b="1">
              <a:solidFill>
                <a:schemeClr val="tx1"/>
              </a:solidFill>
              <a:latin typeface="Agency FB" panose="020B0503020202020204" pitchFamily="34" charset="0"/>
            </a:endParaRPr>
          </a:p>
        </p:txBody>
      </p:sp>
      <p:sp>
        <p:nvSpPr>
          <p:cNvPr id="9"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009C96"/>
              </a:solidFill>
            </a:endParaRPr>
          </a:p>
        </p:txBody>
      </p:sp>
      <p:sp>
        <p:nvSpPr>
          <p:cNvPr id="10" name="矩形 9"/>
          <p:cNvSpPr/>
          <p:nvPr/>
        </p:nvSpPr>
        <p:spPr>
          <a:xfrm>
            <a:off x="511894" y="399268"/>
            <a:ext cx="558166" cy="584775"/>
          </a:xfrm>
          <a:prstGeom prst="rect">
            <a:avLst/>
          </a:prstGeom>
        </p:spPr>
        <p:txBody>
          <a:bodyPr wrap="none">
            <a:spAutoFit/>
          </a:bodyPr>
          <a:lstStyle/>
          <a:p>
            <a:pPr algn="ctr"/>
            <a:r>
              <a:rPr lang="en-US" altLang="zh-CN" sz="3200" b="1" dirty="0">
                <a:solidFill>
                  <a:srgbClr val="0B5AA8"/>
                </a:solidFill>
                <a:latin typeface="Agency FB" panose="020B0503020202020204" pitchFamily="34" charset="0"/>
                <a:ea typeface="Open Sans" panose="020B0606030504020204" pitchFamily="34" charset="0"/>
                <a:cs typeface="Open Sans" panose="020B0606030504020204" pitchFamily="34" charset="0"/>
              </a:rPr>
              <a:t>02</a:t>
            </a:r>
            <a:endParaRPr lang="zh-CN" altLang="en-US" sz="3200" b="1" dirty="0">
              <a:solidFill>
                <a:srgbClr val="0B5AA8"/>
              </a:solidFill>
              <a:latin typeface="Agency FB" panose="020B0503020202020204" pitchFamily="34" charset="0"/>
            </a:endParaRPr>
          </a:p>
        </p:txBody>
      </p:sp>
      <p:sp>
        <p:nvSpPr>
          <p:cNvPr id="11" name="文本占位符 4"/>
          <p:cNvSpPr txBox="1"/>
          <p:nvPr/>
        </p:nvSpPr>
        <p:spPr>
          <a:xfrm>
            <a:off x="1935480" y="389255"/>
            <a:ext cx="7165975" cy="61976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r>
              <a:rPr lang="zh-CN" altLang="en-US" sz="3200" b="1" spc="-150" dirty="0">
                <a:solidFill>
                  <a:srgbClr val="0B5AA8"/>
                </a:solidFill>
                <a:ea typeface="迷你简菱心" panose="02010609000101010101" pitchFamily="49" charset="-122"/>
              </a:rPr>
              <a:t>网络设计</a:t>
            </a:r>
            <a:endParaRPr kumimoji="0" lang="zh-CN" altLang="en-US" sz="3200" b="1" i="0" u="none" strike="noStrike" kern="1200" cap="none" spc="-15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2" name="图片 11"/>
          <p:cNvPicPr>
            <a:picLocks noChangeAspect="1"/>
          </p:cNvPicPr>
          <p:nvPr/>
        </p:nvPicPr>
        <p:blipFill rotWithShape="1">
          <a:blip r:embed="rId4" cstate="print">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sp>
        <p:nvSpPr>
          <p:cNvPr id="41" name="Rectangle 67"/>
          <p:cNvSpPr/>
          <p:nvPr/>
        </p:nvSpPr>
        <p:spPr>
          <a:xfrm>
            <a:off x="1090371" y="3510120"/>
            <a:ext cx="3044980" cy="308674"/>
          </a:xfrm>
          <a:prstGeom prst="rect">
            <a:avLst/>
          </a:prstGeom>
        </p:spPr>
        <p:txBody>
          <a:bodyPr wrap="square">
            <a:spAutoFit/>
          </a:bodyPr>
          <a:lstStyle/>
          <a:p>
            <a:pPr algn="r">
              <a:lnSpc>
                <a:spcPct val="130000"/>
              </a:lnSpc>
            </a:pPr>
            <a:r>
              <a:rPr lang="zh-CN" altLang="en-GB" sz="12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a:t>
            </a:r>
            <a:endParaRPr lang="en-US" altLang="zh-CN" sz="1200" dirty="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51" name="组合 50"/>
          <p:cNvGrpSpPr/>
          <p:nvPr/>
        </p:nvGrpSpPr>
        <p:grpSpPr>
          <a:xfrm>
            <a:off x="9218934" y="274638"/>
            <a:ext cx="2545960" cy="731019"/>
            <a:chOff x="9488724" y="3354030"/>
            <a:chExt cx="2545960" cy="731019"/>
          </a:xfrm>
        </p:grpSpPr>
        <p:pic>
          <p:nvPicPr>
            <p:cNvPr id="52" name="图片 51"/>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53" name="图片 52"/>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54" name="文本框 53"/>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en-US" altLang="zh-CN" sz="900" b="1" spc="200" dirty="0">
                  <a:latin typeface="Calibri Light" panose="020F0302020204030204" pitchFamily="34" charset="0"/>
                  <a:ea typeface="思源黑体 CN Light"/>
                  <a:cs typeface="Segoe UI Light" panose="020B0502040204020203" pitchFamily="34" charset="0"/>
                </a:rPr>
                <a:t>TONGJI UNIVERSITY</a:t>
              </a:r>
            </a:p>
          </p:txBody>
        </p:sp>
      </p:grpSp>
      <p:sp>
        <p:nvSpPr>
          <p:cNvPr id="56" name="TextBox 66"/>
          <p:cNvSpPr txBox="1"/>
          <p:nvPr/>
        </p:nvSpPr>
        <p:spPr>
          <a:xfrm>
            <a:off x="31710" y="1196752"/>
            <a:ext cx="2376264" cy="453457"/>
          </a:xfrm>
          <a:prstGeom prst="rect">
            <a:avLst/>
          </a:prstGeom>
          <a:noFill/>
        </p:spPr>
        <p:txBody>
          <a:bodyPr wrap="square" rtlCol="0">
            <a:spAutoFit/>
          </a:bodyPr>
          <a:lstStyle/>
          <a:p>
            <a:pPr>
              <a:lnSpc>
                <a:spcPct val="130000"/>
              </a:lnSpc>
            </a:pPr>
            <a:r>
              <a:rPr lang="zh-CN" altLang="en-US" dirty="0">
                <a:solidFill>
                  <a:srgbClr val="0B5AA8"/>
                </a:solidFill>
                <a:latin typeface="迷你简菱心" panose="02010609000101010101" pitchFamily="49" charset="-122"/>
                <a:ea typeface="迷你简菱心" panose="02010609000101010101" pitchFamily="49" charset="-122"/>
                <a:sym typeface="Arial" panose="020B0604020202020204" pitchFamily="34" charset="0"/>
              </a:rPr>
              <a:t>整体网络结构如下</a:t>
            </a:r>
            <a:r>
              <a:rPr lang="zh-CN" altLang="en-US" sz="2000" dirty="0">
                <a:solidFill>
                  <a:srgbClr val="0B5AA8"/>
                </a:solidFill>
                <a:latin typeface="迷你简菱心" panose="02010609000101010101" pitchFamily="49" charset="-122"/>
                <a:ea typeface="迷你简菱心" panose="02010609000101010101" pitchFamily="49" charset="-122"/>
                <a:sym typeface="Arial" panose="020B0604020202020204" pitchFamily="34" charset="0"/>
              </a:rPr>
              <a:t>：</a:t>
            </a:r>
            <a:endParaRPr lang="zh-CN" altLang="en-GB" sz="2000" dirty="0">
              <a:solidFill>
                <a:srgbClr val="0B5AA8"/>
              </a:solidFill>
              <a:latin typeface="迷你简菱心" panose="02010609000101010101" pitchFamily="49" charset="-122"/>
              <a:ea typeface="迷你简菱心" panose="02010609000101010101" pitchFamily="49"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11894" y="399268"/>
            <a:ext cx="558166"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02</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51409" y="1794385"/>
            <a:ext cx="8136904" cy="3046988"/>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内网：</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由机房、学院（</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College</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）、行政（</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administration</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）、宿舍（</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dormitory</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）、图书馆（</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library</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err="1">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电话六个子网构成，每个子网都承担着不同的功能，服务于特定的用户群体和业务需求。</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algn="just"/>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a:t>
            </a:r>
            <a:endPar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与学校内网发邮件、访问公网</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等，校内用户也可以随时访问内网</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网络设计</a:t>
            </a:r>
            <a:endParaRPr lang="zh-CN" altLang="en-US" sz="3200" b="1" spc="600" dirty="0">
              <a:solidFill>
                <a:srgbClr val="0B5AA8"/>
              </a:solidFill>
              <a:ea typeface="迷你简菱心" panose="02010609000101010101" pitchFamily="49" charset="-122"/>
            </a:endParaRPr>
          </a:p>
        </p:txBody>
      </p:sp>
      <p:pic>
        <p:nvPicPr>
          <p:cNvPr id="24" name="图片 23"/>
          <p:cNvPicPr>
            <a:picLocks noChangeAspect="1"/>
          </p:cNvPicPr>
          <p:nvPr/>
        </p:nvPicPr>
        <p:blipFill>
          <a:blip r:embed="rId10"/>
          <a:stretch>
            <a:fillRect/>
          </a:stretch>
        </p:blipFill>
        <p:spPr>
          <a:xfrm>
            <a:off x="8760296" y="2636912"/>
            <a:ext cx="3096344" cy="299233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11894" y="399268"/>
            <a:ext cx="558166"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02</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690389" y="1734181"/>
            <a:ext cx="6336704" cy="3416320"/>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核心层网络拓扑设计：</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核心层是整个网络的核心，主要由核心交换机和</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6</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台服务器（</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DHCP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DNS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Web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File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Email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Radius Server</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）组成，它们负责整个内网的数据交换。核心层的设计需要确保高可用性和高带宽，以满足大量数据的高速传输需求。核心层中的各服务器均为内网公用服务器，可以被其他部门访问</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网络设计</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7320136" y="1844824"/>
            <a:ext cx="4181475" cy="32956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96689" y="-27384"/>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11894" y="399268"/>
            <a:ext cx="558166"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02</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5688632" cy="4278094"/>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学院网络拓扑设计（行政、图书馆网络拓扑设计同理）：</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这个子网包括了服务器、笔记本电脑和平板电脑等设备，为学生和教职工提供网络资源和服务。学院内设有两个办公室（学院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1</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2</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）和两台服务器（学院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File</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）。办公室之间相互独立，例如学院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1</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不能访问学院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2</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1</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中设备均通过</a:t>
            </a:r>
            <a:r>
              <a:rPr lang="en-US" altLang="zh-CN" sz="2000" kern="100" dirty="0" err="1">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WiFi</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接入，学院</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office 2</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通过有线接入，均动态分配</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地址。两台服务器，一台是负责学院网络的</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服务器，另一台是负责文件传输的</a:t>
            </a:r>
            <a:r>
              <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File</a:t>
            </a:r>
            <a:r>
              <a:rPr lang="zh-CN" altLang="en-US"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服务器，都是学院内的公用服务器，其他部门无法访问。</a:t>
            </a:r>
            <a:endParaRPr lang="en-US" altLang="zh-CN" sz="20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网络设计</a:t>
            </a:r>
            <a:endParaRPr lang="zh-CN" altLang="en-US" sz="3200" b="1" spc="600" dirty="0">
              <a:solidFill>
                <a:srgbClr val="0B5AA8"/>
              </a:solidFill>
              <a:ea typeface="迷你简菱心" panose="02010609000101010101" pitchFamily="49" charset="-122"/>
            </a:endParaRPr>
          </a:p>
        </p:txBody>
      </p:sp>
      <p:pic>
        <p:nvPicPr>
          <p:cNvPr id="14" name="图片 13">
            <a:extLst>
              <a:ext uri="{FF2B5EF4-FFF2-40B4-BE49-F238E27FC236}">
                <a16:creationId xmlns:a16="http://schemas.microsoft.com/office/drawing/2014/main" id="{DF1F3E29-6B85-302F-80E0-5E4971E2C034}"/>
              </a:ext>
            </a:extLst>
          </p:cNvPr>
          <p:cNvPicPr>
            <a:picLocks noChangeAspect="1"/>
          </p:cNvPicPr>
          <p:nvPr/>
        </p:nvPicPr>
        <p:blipFill>
          <a:blip r:embed="rId10"/>
          <a:stretch>
            <a:fillRect/>
          </a:stretch>
        </p:blipFill>
        <p:spPr>
          <a:xfrm>
            <a:off x="6301107" y="2996952"/>
            <a:ext cx="5463788" cy="259727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11894" y="399268"/>
            <a:ext cx="558166"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02</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968552" cy="2677656"/>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宿舍网络拓扑设计：</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这个子网包括了笔记本电脑和平板电脑等设备，为学生提供网络资源和服务。宿舍楼</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2</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中设备均通过</a:t>
            </a:r>
            <a:r>
              <a:rPr lang="en-US" altLang="zh-CN" sz="2400" kern="100" dirty="0" err="1">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WiFi</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接入，宿舍楼</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1</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通过有线接入，均动态分配</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地址。</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网络设计</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951984" y="2492896"/>
            <a:ext cx="5893424" cy="30891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27384"/>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11894" y="399268"/>
            <a:ext cx="558166"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02</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83332" y="1880618"/>
            <a:ext cx="6336704" cy="3046988"/>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外网网络拓扑设计：</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外网部分是将学校内网连接到外部网络，它允许内网用户访问外部资源，如互联网上的网站、电子邮件服务等。同时，外网也允许外部用户访问内网中配置了公网</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IP</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的服务器，如学校的</a:t>
            </a:r>
            <a:r>
              <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Web</a:t>
            </a:r>
            <a:r>
              <a:rPr lang="zh-CN" altLang="en-US"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rPr>
              <a:t>服务器和文件服务器。外网通过路由器与内网相连，该路由器负责处理内网与外网之间的数据流，确保数据的安全传输</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effectLst/>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网络设计</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7104112" y="1772816"/>
            <a:ext cx="4608512" cy="38323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 y="-13219"/>
            <a:ext cx="12190476" cy="6871219"/>
          </a:xfrm>
          <a:prstGeom prst="rect">
            <a:avLst/>
          </a:prstGeom>
        </p:spPr>
      </p:pic>
      <p:grpSp>
        <p:nvGrpSpPr>
          <p:cNvPr id="20" name="组合 19"/>
          <p:cNvGrpSpPr/>
          <p:nvPr/>
        </p:nvGrpSpPr>
        <p:grpSpPr>
          <a:xfrm>
            <a:off x="3632842" y="908720"/>
            <a:ext cx="4494267" cy="1317770"/>
            <a:chOff x="9483436" y="3338490"/>
            <a:chExt cx="2493150" cy="73102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4" name="文本框 23"/>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grpSp>
        <p:nvGrpSpPr>
          <p:cNvPr id="25" name="组合 24"/>
          <p:cNvGrpSpPr/>
          <p:nvPr/>
        </p:nvGrpSpPr>
        <p:grpSpPr>
          <a:xfrm>
            <a:off x="1055440" y="2428980"/>
            <a:ext cx="9649072" cy="2881741"/>
            <a:chOff x="1271458" y="2418031"/>
            <a:chExt cx="9649072" cy="2881741"/>
          </a:xfrm>
        </p:grpSpPr>
        <p:sp>
          <p:nvSpPr>
            <p:cNvPr id="26" name="文本框 25"/>
            <p:cNvSpPr txBox="1"/>
            <p:nvPr/>
          </p:nvSpPr>
          <p:spPr>
            <a:xfrm>
              <a:off x="1271458" y="2418031"/>
              <a:ext cx="9592945" cy="923330"/>
            </a:xfrm>
            <a:prstGeom prst="rect">
              <a:avLst/>
            </a:prstGeom>
            <a:noFill/>
          </p:spPr>
          <p:txBody>
            <a:bodyPr wrap="square" rtlCol="0">
              <a:spAutoFit/>
            </a:bodyPr>
            <a:lstStyle/>
            <a:p>
              <a:pPr algn="ctr"/>
              <a:r>
                <a:rPr lang="zh-CN" altLang="en-US" sz="5400" b="1" dirty="0">
                  <a:solidFill>
                    <a:schemeClr val="bg1"/>
                  </a:solidFill>
                  <a:latin typeface="黑体" panose="02010609060101010101" charset="-122"/>
                  <a:ea typeface="黑体" panose="02010609060101010101" charset="-122"/>
                </a:rPr>
                <a:t>各项配置</a:t>
              </a:r>
            </a:p>
          </p:txBody>
        </p:sp>
        <p:cxnSp>
          <p:nvCxnSpPr>
            <p:cNvPr id="27" name="直接连接符 26"/>
            <p:cNvCxnSpPr/>
            <p:nvPr/>
          </p:nvCxnSpPr>
          <p:spPr>
            <a:xfrm>
              <a:off x="1271458" y="4725144"/>
              <a:ext cx="96490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03641" y="4906716"/>
              <a:ext cx="184730" cy="393056"/>
            </a:xfrm>
            <a:prstGeom prst="rect">
              <a:avLst/>
            </a:prstGeom>
            <a:noFill/>
          </p:spPr>
          <p:txBody>
            <a:bodyPr wrap="none" rtlCol="0">
              <a:spAutoFit/>
            </a:bodyPr>
            <a:lstStyle/>
            <a:p>
              <a:pPr algn="ctr">
                <a:lnSpc>
                  <a:spcPct val="126000"/>
                </a:lnSpc>
              </a:pPr>
              <a:endParaRPr lang="zh-CN" altLang="en-US" b="1" dirty="0">
                <a:solidFill>
                  <a:schemeClr val="bg1"/>
                </a:solidFill>
                <a:latin typeface="黑体" panose="02010609060101010101" charset="-122"/>
                <a:ea typeface="黑体" panose="02010609060101010101" charset="-122"/>
              </a:endParaRPr>
            </a:p>
          </p:txBody>
        </p:sp>
      </p:grpSp>
      <p:pic>
        <p:nvPicPr>
          <p:cNvPr id="30" name="图片 29"/>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27384"/>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38245" y="2010128"/>
            <a:ext cx="6336704" cy="2677656"/>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我们致力于通过构建虚拟局域网（</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）来逻辑上为每个部门建立其独立的局域网。为了实现这一目标，我们选择采用</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en-US" altLang="zh-CN" sz="2400" kern="100" dirty="0" err="1">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Trunking</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Protocol</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）协议来简化</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的管理和配置过程。</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a:extLst>
              <a:ext uri="{FF2B5EF4-FFF2-40B4-BE49-F238E27FC236}">
                <a16:creationId xmlns:a16="http://schemas.microsoft.com/office/drawing/2014/main" id="{15C4AE7E-A23C-BC8D-B138-F2CD36D8AAED}"/>
              </a:ext>
            </a:extLst>
          </p:cNvPr>
          <p:cNvPicPr>
            <a:picLocks noChangeAspect="1"/>
          </p:cNvPicPr>
          <p:nvPr/>
        </p:nvPicPr>
        <p:blipFill>
          <a:blip r:embed="rId10"/>
          <a:stretch>
            <a:fillRect/>
          </a:stretch>
        </p:blipFill>
        <p:spPr>
          <a:xfrm>
            <a:off x="7018064" y="1078840"/>
            <a:ext cx="4869135" cy="45554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6336704" cy="4154984"/>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首先，我们将核心交换机</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Core</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配置为</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的服务器（</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server</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）模式，这意味着它将成为</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数据库的中央管理点</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随后，在核心交换机上进行</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的配置，这确保了任何新的</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或</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更改都首先在核心交换机上完成。在核心交换机处添加</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VLAN2 'servers'</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51384" y="2852936"/>
            <a:ext cx="3600953" cy="724001"/>
          </a:xfrm>
          <a:prstGeom prst="rect">
            <a:avLst/>
          </a:prstGeom>
        </p:spPr>
      </p:pic>
      <p:pic>
        <p:nvPicPr>
          <p:cNvPr id="23" name="图片 22"/>
          <p:cNvPicPr>
            <a:picLocks noChangeAspect="1"/>
          </p:cNvPicPr>
          <p:nvPr/>
        </p:nvPicPr>
        <p:blipFill>
          <a:blip r:embed="rId11"/>
          <a:stretch>
            <a:fillRect/>
          </a:stretch>
        </p:blipFill>
        <p:spPr>
          <a:xfrm>
            <a:off x="7104112" y="1340768"/>
            <a:ext cx="4687365" cy="4149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507887" y="1536174"/>
            <a:ext cx="7205242" cy="3785652"/>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然后，通过将部门交换机配置为</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client</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模式使得它们可以同步所有</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信息。</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 client</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模式允许交换机接收</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信息更新，但不允许它们修改</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一旦在核心交换机上进行了</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的配置，</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服务器将自动将这些更改信息广播给其他</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VTP</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客户端模式的交换机。通过这种方式，我们保证了在整个网络中的所有交换机都同步了相同的</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信息，从而为各个部门提供了独立且安全的通信环境。</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8040216" y="1772816"/>
            <a:ext cx="3312368" cy="72599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11305256" cy="4154984"/>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配置网络交换机端口</a:t>
            </a: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以学院为例</a:t>
            </a: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switchport trunk encapsulation dot1q</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这条命令指定该端口使用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IEEE 802.1Q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协议作为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的封装方式。</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802.1Q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是一种常用的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标记协议，用于在交换机之间传递多个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的数据流。它会在以太网帧中插入一个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标签，从而区分不同的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switchport mode trunk</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这条命令将端口设置为“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端口可以同时传递多个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的流量，通常用于连接交换机之间或交换机与路由器之间，实现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间的数据传递。只有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端口才能携带多个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的数据，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access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端口只能属于一个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551385" y="1844824"/>
            <a:ext cx="5616624" cy="101826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785652"/>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配置网络交换机端口</a:t>
            </a: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以学院为例</a:t>
            </a: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上述两条命令的组合作用是将交换机端口配置为 </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 </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端口，并指定使用 </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802.1Q </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作为 </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封装协议，从而允许该端口在多台交换机之间传递多个 </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的数据。这样可以实现不同 </a:t>
            </a:r>
            <a:r>
              <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 </a:t>
            </a: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之间的隔离和灵活的数据流管理。</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配置后如右图：</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6168008" y="1340768"/>
            <a:ext cx="5633825" cy="41704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1569660"/>
          </a:xfrm>
          <a:prstGeom prst="rect">
            <a:avLst/>
          </a:prstGeom>
          <a:noFill/>
        </p:spPr>
        <p:txBody>
          <a:bodyPr wrap="square" rtlCol="0">
            <a:spAutoFit/>
          </a:bodyPr>
          <a:lstStyle/>
          <a:p>
            <a:pPr marL="0" marR="0" algn="just">
              <a:spcBef>
                <a:spcPts val="0"/>
              </a:spcBef>
              <a:spcAft>
                <a:spcPts val="0"/>
              </a:spcAft>
            </a:pP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机房服务器静态</a:t>
            </a: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在机房服务器上配置静态</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地址，以确保服务器在网络中的唯一性和稳定性。以下是对每台服务器的</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配置：（右图为例图）</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479376" y="2996952"/>
            <a:ext cx="5616624" cy="2608268"/>
          </a:xfrm>
          <a:prstGeom prst="rect">
            <a:avLst/>
          </a:prstGeom>
        </p:spPr>
      </p:pic>
      <p:pic>
        <p:nvPicPr>
          <p:cNvPr id="23" name="图片 22"/>
          <p:cNvPicPr>
            <a:picLocks noChangeAspect="1"/>
          </p:cNvPicPr>
          <p:nvPr/>
        </p:nvPicPr>
        <p:blipFill>
          <a:blip r:embed="rId11"/>
          <a:stretch>
            <a:fillRect/>
          </a:stretch>
        </p:blipFill>
        <p:spPr>
          <a:xfrm>
            <a:off x="6456040" y="1772816"/>
            <a:ext cx="5316622" cy="380373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000548"/>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服务器的配置是校园网搭建的重要环节，它负责为网络中的设备动态分配</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右图为对</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服务器配置的详细说明：</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375920" y="1340768"/>
            <a:ext cx="6255187" cy="41755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923877"/>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在校园网中，为了提供域名解析服务，我们配置了</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服务器将负责将域名解析为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地址，以便用户可以通过域名访问学校的资源。</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对</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服务器配置的详细说明：</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在核心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服务器上，为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服务器配置内部各部门的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与域名映射。</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5303912" y="1412776"/>
            <a:ext cx="6459232" cy="4149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1384995"/>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在外网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服务器上，将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服务器的公网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与学校域名绑定，确保外网可访问。</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735960" y="1484784"/>
            <a:ext cx="6025664" cy="402106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616101"/>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服务，我们配置了</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服务器将托管学校的官方网站和其他相关资源。</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将所有</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HTTP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和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HTTPS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设为启用即可完成配置（右图为学校</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服务器图）</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6168008" y="1412776"/>
            <a:ext cx="5675574" cy="41490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6">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7" cstate="print">
            <a:extLst>
              <a:ext uri="{BEBA8EAE-BF5A-486C-A8C5-ECC9F3942E4B}">
                <a14:imgProps xmlns:a14="http://schemas.microsoft.com/office/drawing/2010/main">
                  <a14:imgLayer r:embed="rId8">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10"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231654"/>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File</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在校园网中，为了提供文件共享服务，我们配置了文件服务器。文件服务器将负责存储和管理学校内部的文件资源，以便用户可以方便地访问和共享文件。</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在核心层</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File</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服务器上选择</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Services - FTP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，开启</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FTP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服务，然后配置若干邮箱用户的用户名、密码和文件访问权限，如右图所示：</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1"/>
          <a:stretch>
            <a:fillRect/>
          </a:stretch>
        </p:blipFill>
        <p:spPr>
          <a:xfrm>
            <a:off x="5663952" y="1484784"/>
            <a:ext cx="6120680" cy="403039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308324"/>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在校园网中，为了提供电子邮件服务，我们配置了邮件服务器。邮件服务器将负责处理学校内部和外部的电子邮件通信。</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开启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SMTP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和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POP3</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，配置需要的邮箱用户的用户名及密码：</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5663952" y="1844824"/>
            <a:ext cx="6154415" cy="371226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093428"/>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用户登录时，进入</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PC</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Desktop - Email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，从上到下配置项为：</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名字：和用户名一致</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邮箱地址：名字</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域名</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邮件客户端：域名（如果没配</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就是</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转发邮件服务器：域名（如果没配</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就是</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用户名：与</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服务器中配置一致</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(6)</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密码：与</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服务器中配置一致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最后点击保存完成此客户端配置，即可进行邮件操作。同理，进入其他客户端终端进行配置</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6096000" y="1196752"/>
            <a:ext cx="5698886" cy="436510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662541"/>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在校园网中，为了提供无线网络的用户认证服务，我们配置了</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服务器将负责对无线用户进行身份验证和授权，以确保只有授权用户可以访问无线网络。</a:t>
            </a:r>
            <a:endParaRPr lang="en-US" altLang="zh-CN" sz="24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服务器上，选择</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Services - AAA</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，开启</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服务，并配置需要的用户认证信息，配置完成后，添加无线路由器（共</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个）的</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地址和共享密钥和用户名、密码等信息。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5951984" y="1484784"/>
            <a:ext cx="5822991" cy="40770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1384995"/>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在无线路由器上，选择</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Wireless - 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，开启</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服务，并配置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地址和共享密钥：</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951984" y="2060848"/>
            <a:ext cx="5832648" cy="349592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1077218"/>
          </a:xfrm>
          <a:prstGeom prst="rect">
            <a:avLst/>
          </a:prstGeom>
          <a:noFill/>
        </p:spPr>
        <p:txBody>
          <a:bodyPr wrap="square" rtlCol="0">
            <a:spAutoFit/>
          </a:bodyPr>
          <a:lstStyle/>
          <a:p>
            <a:pPr marL="0" marR="0" algn="just">
              <a:spcBef>
                <a:spcPts val="0"/>
              </a:spcBef>
              <a:spcAft>
                <a:spcPts val="0"/>
              </a:spcAft>
            </a:pPr>
            <a:r>
              <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邮件服务器配置：</a:t>
            </a:r>
            <a:endParaRPr lang="en-US" altLang="zh-CN" sz="24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在用户设备上，连接到无线网络时，输入用户名和密码进行认证：</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6312024" y="1412776"/>
            <a:ext cx="5448451" cy="407707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707890"/>
          </a:xfrm>
          <a:prstGeom prst="rect">
            <a:avLst/>
          </a:prstGeom>
          <a:noFill/>
        </p:spPr>
        <p:txBody>
          <a:bodyPr wrap="square" rtlCol="0">
            <a:spAutoFit/>
          </a:bodyPr>
          <a:lstStyle/>
          <a:p>
            <a:pPr marL="0" marR="0" algn="just">
              <a:spcBef>
                <a:spcPts val="0"/>
              </a:spcBef>
              <a:spcAft>
                <a:spcPts val="0"/>
              </a:spcAft>
            </a:pP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学院、行政、宿舍、图书馆相关配置</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在学院的网络配置中，我们需要确保学院内的设备能够正确连接到网络，并且能够访问学院内的服务器。</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配置步骤如下：</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交换机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Trunk/Access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静态配置部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6.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WiFi</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这里以学院配置为例</a:t>
            </a: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descr="image-2"/>
          <p:cNvPicPr>
            <a:picLocks noChangeAspect="1"/>
          </p:cNvPicPr>
          <p:nvPr/>
        </p:nvPicPr>
        <p:blipFill>
          <a:blip r:embed="rId10"/>
          <a:stretch>
            <a:fillRect/>
          </a:stretch>
        </p:blipFill>
        <p:spPr>
          <a:xfrm>
            <a:off x="4586605" y="2853055"/>
            <a:ext cx="7249795" cy="32010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9878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4" name="图片 13"/>
          <p:cNvPicPr>
            <a:picLocks noChangeAspect="1"/>
          </p:cNvPicPr>
          <p:nvPr/>
        </p:nvPicPr>
        <p:blipFill>
          <a:blip r:embed="rId10"/>
          <a:stretch>
            <a:fillRect/>
          </a:stretch>
        </p:blipFill>
        <p:spPr>
          <a:xfrm>
            <a:off x="609600" y="3285490"/>
            <a:ext cx="11173460" cy="19284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169285"/>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交换机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Trunk/Access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模式</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将核心交换机到部门总交换机，部门总交换机到部门分交换机的接口设置为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Trunk</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将部门分交换机到终端的接口设置为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Access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，并选择对应</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如学院有</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vlan11</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vlan13)</a:t>
            </a: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descr="image-4"/>
          <p:cNvPicPr>
            <a:picLocks noChangeAspect="1"/>
          </p:cNvPicPr>
          <p:nvPr/>
        </p:nvPicPr>
        <p:blipFill>
          <a:blip r:embed="rId10"/>
          <a:stretch>
            <a:fillRect/>
          </a:stretch>
        </p:blipFill>
        <p:spPr>
          <a:xfrm>
            <a:off x="5865495" y="1196975"/>
            <a:ext cx="4408805" cy="2932430"/>
          </a:xfrm>
          <a:prstGeom prst="rect">
            <a:avLst/>
          </a:prstGeom>
        </p:spPr>
      </p:pic>
      <p:pic>
        <p:nvPicPr>
          <p:cNvPr id="14" name="图片 13" descr="image-5"/>
          <p:cNvPicPr>
            <a:picLocks noChangeAspect="1"/>
          </p:cNvPicPr>
          <p:nvPr/>
        </p:nvPicPr>
        <p:blipFill>
          <a:blip r:embed="rId11"/>
          <a:stretch>
            <a:fillRect/>
          </a:stretch>
        </p:blipFill>
        <p:spPr>
          <a:xfrm>
            <a:off x="5879465" y="3104515"/>
            <a:ext cx="4322445" cy="30740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78460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在学院的网络配置中，为了确保网络的安全性和访问控制，我们需要配置访问控制列表（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可以限制不同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之间的访问权限，确保只有授权的设备可以访问特定的资源。</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针对服务器</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允许本部门内的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VLAN11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VLAN12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）访问</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VLAN13</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拒绝其他部门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对</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VLAN13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的访问。</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5384800" y="2637155"/>
            <a:ext cx="6451600" cy="2139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70789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在学院的网络配置中，为了确保网络的安全性和访问控制，我们需要配置访问控制列表（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可以限制不同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之间的访问权限，确保只有授权的设备可以访问特定的资源。</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针对不同办公室：</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允许本部门服务器（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VLAN13</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）访问办公室</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允许核心层服务器访问办公室</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拒绝其他部门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访问办公室</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允许外部访问（如互联网或特定公网服务器）。</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p:cNvPicPr>
            <a:picLocks noChangeAspect="1"/>
          </p:cNvPicPr>
          <p:nvPr/>
        </p:nvPicPr>
        <p:blipFill>
          <a:blip r:embed="rId10"/>
          <a:stretch>
            <a:fillRect/>
          </a:stretch>
        </p:blipFill>
        <p:spPr>
          <a:xfrm>
            <a:off x="5245100" y="2646680"/>
            <a:ext cx="6591300" cy="20955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476625"/>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为了简化</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地址的分配和管理，我们配置了</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服务器将为各个</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中的设备动态分配</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服务器将为软件学院的各个</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VLAN11</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VLAN13</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）中的设备分配</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地址。每个</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VLAN</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的设备都可以通过</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DHCP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服务器获取到正确的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地址、子网掩码和默认网关，从而实现网络连接。</a:t>
            </a: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6096000" y="1772920"/>
            <a:ext cx="5358765" cy="39947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10955020" cy="101473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静态配置</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在学院的网络配置中，我们需要确保学院内的服务器能够正确连接到网络，并且能够提供服务。</a:t>
            </a: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533400" y="3285490"/>
            <a:ext cx="11231245" cy="15659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4377690" cy="286131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部</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WiFi</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在校园网中，为了提供无线网络覆盖，我们配置了</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服务器和无线接入点（</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RADIUS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服务器用于对无线用户进行身份验证和授权。</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设备连接</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WiFi</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后，需输入用户名和密码进行认证。</a:t>
            </a:r>
          </a:p>
        </p:txBody>
      </p:sp>
      <p:sp>
        <p:nvSpPr>
          <p:cNvPr id="3" name="圆角矩形 13"/>
          <p:cNvSpPr/>
          <p:nvPr>
            <p:custDataLst>
              <p:tags r:id="rId1"/>
            </p:custDataLst>
          </p:nvPr>
        </p:nvSpPr>
        <p:spPr>
          <a:xfrm>
            <a:off x="479425" y="1196975"/>
            <a:ext cx="11356975" cy="49815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descr="image-19"/>
          <p:cNvPicPr>
            <a:picLocks noChangeAspect="1"/>
          </p:cNvPicPr>
          <p:nvPr/>
        </p:nvPicPr>
        <p:blipFill>
          <a:blip r:embed="rId10"/>
          <a:stretch>
            <a:fillRect/>
          </a:stretch>
        </p:blipFill>
        <p:spPr>
          <a:xfrm>
            <a:off x="5159375" y="1588770"/>
            <a:ext cx="6577965" cy="3943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245360"/>
          </a:xfrm>
          <a:prstGeom prst="rect">
            <a:avLst/>
          </a:prstGeom>
          <a:noFill/>
        </p:spPr>
        <p:txBody>
          <a:bodyPr wrap="square" rtlCol="0">
            <a:spAutoFit/>
          </a:bodyPr>
          <a:lstStyle/>
          <a:p>
            <a:pPr marL="0" marR="0" algn="just">
              <a:spcBef>
                <a:spcPts val="0"/>
              </a:spcBef>
              <a:spcAft>
                <a:spcPts val="0"/>
              </a:spcAft>
            </a:pP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电话</a:t>
            </a: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CME</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服务配置</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在路由器上启用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CME</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服务，配置电话注册所需的语音服务参数，并创建两个扩展号码</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54001</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54002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，分别分配给两台</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电话。配置完成后，</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电话成功注册到</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CME</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，可实现互拨通话。</a:t>
            </a:r>
          </a:p>
        </p:txBody>
      </p:sp>
      <p:sp>
        <p:nvSpPr>
          <p:cNvPr id="3" name="圆角矩形 13"/>
          <p:cNvSpPr/>
          <p:nvPr>
            <p:custDataLst>
              <p:tags r:id="rId1"/>
            </p:custDataLst>
          </p:nvPr>
        </p:nvSpPr>
        <p:spPr>
          <a:xfrm>
            <a:off x="479425" y="1196975"/>
            <a:ext cx="11356975" cy="443865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6351270" y="1196975"/>
            <a:ext cx="5231130" cy="45199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5145405" cy="4707890"/>
          </a:xfrm>
          <a:prstGeom prst="rect">
            <a:avLst/>
          </a:prstGeom>
          <a:noFill/>
        </p:spPr>
        <p:txBody>
          <a:bodyPr wrap="square" rtlCol="0">
            <a:spAutoFit/>
          </a:bodyPr>
          <a:lstStyle/>
          <a:p>
            <a:pPr marL="0" marR="0" algn="just">
              <a:spcBef>
                <a:spcPts val="0"/>
              </a:spcBef>
              <a:spcAft>
                <a:spcPts val="0"/>
              </a:spcAft>
            </a:pP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外网相关配置</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在校园网中，为了提供外部访问服务，我们配置了外网相关的网络设备和服务器。</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在外网配置中，我们需要确保外部用户可以访问学校的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服务器和邮件服务器，同时也要确保内网用户可以访问外部资源。</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配置步骤如下：</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静态</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 VLAN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 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 NAT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静态路由配置</a:t>
            </a:r>
          </a:p>
        </p:txBody>
      </p:sp>
      <p:sp>
        <p:nvSpPr>
          <p:cNvPr id="3" name="圆角矩形 13"/>
          <p:cNvSpPr/>
          <p:nvPr>
            <p:custDataLst>
              <p:tags r:id="rId1"/>
            </p:custDataLst>
          </p:nvPr>
        </p:nvSpPr>
        <p:spPr>
          <a:xfrm>
            <a:off x="479425" y="1196975"/>
            <a:ext cx="11356975" cy="496062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rcRect l="4596" r="4961"/>
          <a:stretch>
            <a:fillRect/>
          </a:stretch>
        </p:blipFill>
        <p:spPr>
          <a:xfrm>
            <a:off x="6455410" y="1588770"/>
            <a:ext cx="4248785" cy="40049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5145405" cy="39878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外网静态</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配置</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96062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1343025" y="1917065"/>
            <a:ext cx="9620250" cy="40195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11045825" cy="2861310"/>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校园网为外网提供了可访问的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Email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服务器，使用静态映射的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NAT</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，把内网中的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192.168.9.6</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服务器内网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）映射到</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100.80.195.160</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192.168.9.2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Email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服务器的内网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地址）映射到</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100.80.195.160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上。</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设置学校为</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Email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服务器申请了域名并存放在外网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上，这样，学校的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Email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Web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服务不仅可以通过公网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访问，还可以通过域名访问。外网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DNS</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的配置如下：</a:t>
            </a:r>
          </a:p>
        </p:txBody>
      </p:sp>
      <p:sp>
        <p:nvSpPr>
          <p:cNvPr id="3" name="圆角矩形 13"/>
          <p:cNvSpPr/>
          <p:nvPr>
            <p:custDataLst>
              <p:tags r:id="rId1"/>
            </p:custDataLst>
          </p:nvPr>
        </p:nvSpPr>
        <p:spPr>
          <a:xfrm>
            <a:off x="479425" y="1196975"/>
            <a:ext cx="11356975" cy="496062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p:cNvPicPr>
            <a:picLocks noChangeAspect="1"/>
          </p:cNvPicPr>
          <p:nvPr/>
        </p:nvPicPr>
        <p:blipFill>
          <a:blip r:embed="rId10"/>
          <a:stretch>
            <a:fillRect/>
          </a:stretch>
        </p:blipFill>
        <p:spPr>
          <a:xfrm>
            <a:off x="1600200" y="4149090"/>
            <a:ext cx="9925050" cy="177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624991" y="1401428"/>
            <a:ext cx="9324877" cy="3785652"/>
          </a:xfrm>
          <a:prstGeom prst="rect">
            <a:avLst/>
          </a:prstGeom>
          <a:noFill/>
        </p:spPr>
        <p:txBody>
          <a:bodyPr wrap="square" rtlCol="0">
            <a:sp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NAT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配置</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algn="just"/>
            <a:r>
              <a:rPr lang="zh-CN" altLang="en-US" sz="2000" dirty="0">
                <a:solidFill>
                  <a:schemeClr val="tx2">
                    <a:lumMod val="75000"/>
                  </a:schemeClr>
                </a:solidFill>
                <a:ea typeface="迷你简菱心" panose="02010609000101010101"/>
              </a:rPr>
              <a:t>将两个供外部访问的服务器</a:t>
            </a:r>
            <a:r>
              <a:rPr lang="en-US" altLang="zh-CN" sz="2000" dirty="0">
                <a:solidFill>
                  <a:schemeClr val="tx2">
                    <a:lumMod val="75000"/>
                  </a:schemeClr>
                </a:solidFill>
                <a:ea typeface="迷你简菱心" panose="02010609000101010101"/>
              </a:rPr>
              <a:t>(Web</a:t>
            </a:r>
            <a:r>
              <a:rPr lang="zh-CN" altLang="en-US" sz="2000" dirty="0">
                <a:solidFill>
                  <a:schemeClr val="tx2">
                    <a:lumMod val="75000"/>
                  </a:schemeClr>
                </a:solidFill>
                <a:ea typeface="迷你简菱心" panose="02010609000101010101"/>
              </a:rPr>
              <a:t>、</a:t>
            </a:r>
            <a:r>
              <a:rPr lang="en-US" altLang="zh-CN" sz="2000" dirty="0">
                <a:solidFill>
                  <a:schemeClr val="tx2">
                    <a:lumMod val="75000"/>
                  </a:schemeClr>
                </a:solidFill>
                <a:ea typeface="迷你简菱心" panose="02010609000101010101"/>
              </a:rPr>
              <a:t>EMAIL</a:t>
            </a:r>
            <a:r>
              <a:rPr lang="zh-CN" altLang="en-US" sz="2000" dirty="0">
                <a:solidFill>
                  <a:schemeClr val="tx2">
                    <a:lumMod val="75000"/>
                  </a:schemeClr>
                </a:solidFill>
                <a:ea typeface="迷你简菱心" panose="02010609000101010101"/>
              </a:rPr>
              <a:t>）内⽹</a:t>
            </a:r>
            <a:r>
              <a:rPr lang="en-US" altLang="zh-CN" sz="2000" dirty="0">
                <a:solidFill>
                  <a:schemeClr val="tx2">
                    <a:lumMod val="75000"/>
                  </a:schemeClr>
                </a:solidFill>
                <a:ea typeface="迷你简菱心" panose="02010609000101010101"/>
              </a:rPr>
              <a:t>IP</a:t>
            </a:r>
            <a:r>
              <a:rPr lang="zh-CN" altLang="en-US" sz="2000" dirty="0">
                <a:solidFill>
                  <a:schemeClr val="tx2">
                    <a:lumMod val="75000"/>
                  </a:schemeClr>
                </a:solidFill>
                <a:ea typeface="迷你简菱心" panose="02010609000101010101"/>
              </a:rPr>
              <a:t>映射到公⽹</a:t>
            </a:r>
            <a:r>
              <a:rPr lang="en-US" altLang="zh-CN" sz="2000" dirty="0">
                <a:solidFill>
                  <a:schemeClr val="tx2">
                    <a:lumMod val="75000"/>
                  </a:schemeClr>
                </a:solidFill>
                <a:ea typeface="迷你简菱心" panose="02010609000101010101"/>
              </a:rPr>
              <a:t>IP</a:t>
            </a:r>
            <a:r>
              <a:rPr lang="zh-CN" altLang="en-US" sz="2000" dirty="0">
                <a:solidFill>
                  <a:schemeClr val="tx2">
                    <a:lumMod val="75000"/>
                  </a:schemeClr>
                </a:solidFill>
                <a:ea typeface="迷你简菱心" panose="02010609000101010101"/>
              </a:rPr>
              <a:t>：</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endParaRPr lang="en-US" altLang="zh-CN" sz="2000" dirty="0">
              <a:solidFill>
                <a:schemeClr val="tx2">
                  <a:lumMod val="75000"/>
                </a:schemeClr>
              </a:solidFill>
              <a:ea typeface="迷你简菱心" panose="02010609000101010101"/>
            </a:endParaRPr>
          </a:p>
          <a:p>
            <a:endParaRPr lang="en-US" altLang="zh-CN" sz="2000" dirty="0">
              <a:solidFill>
                <a:schemeClr val="tx2">
                  <a:lumMod val="75000"/>
                </a:schemeClr>
              </a:solidFill>
              <a:ea typeface="迷你简菱心" panose="02010609000101010101"/>
            </a:endParaRPr>
          </a:p>
          <a:p>
            <a:endParaRPr lang="en-US" altLang="zh-CN" sz="2000" dirty="0">
              <a:solidFill>
                <a:schemeClr val="tx2">
                  <a:lumMod val="75000"/>
                </a:schemeClr>
              </a:solidFill>
              <a:ea typeface="迷你简菱心" panose="02010609000101010101"/>
            </a:endParaRPr>
          </a:p>
          <a:p>
            <a:endParaRPr lang="en-US" altLang="zh-CN" sz="2000" dirty="0">
              <a:solidFill>
                <a:schemeClr val="tx2">
                  <a:lumMod val="75000"/>
                </a:schemeClr>
              </a:solidFill>
              <a:ea typeface="迷你简菱心" panose="02010609000101010101"/>
            </a:endParaRPr>
          </a:p>
          <a:p>
            <a:r>
              <a:rPr lang="zh-CN" altLang="en-US" sz="2000" dirty="0">
                <a:solidFill>
                  <a:schemeClr val="tx2">
                    <a:lumMod val="75000"/>
                  </a:schemeClr>
                </a:solidFill>
                <a:ea typeface="迷你简菱心" panose="02010609000101010101"/>
              </a:rPr>
              <a:t>接着进⾏内⽹访问外⽹的</a:t>
            </a:r>
            <a:r>
              <a:rPr lang="en-US" altLang="zh-CN" sz="2000" dirty="0">
                <a:solidFill>
                  <a:schemeClr val="tx2">
                    <a:lumMod val="75000"/>
                  </a:schemeClr>
                </a:solidFill>
                <a:ea typeface="迷你简菱心" panose="02010609000101010101"/>
              </a:rPr>
              <a:t>NAT</a:t>
            </a:r>
            <a:r>
              <a:rPr lang="zh-CN" altLang="en-US" sz="2000" dirty="0">
                <a:solidFill>
                  <a:schemeClr val="tx2">
                    <a:lumMod val="75000"/>
                  </a:schemeClr>
                </a:solidFill>
                <a:ea typeface="迷你简菱心" panose="02010609000101010101"/>
              </a:rPr>
              <a:t>：</a:t>
            </a:r>
          </a:p>
          <a:p>
            <a:pPr marL="457200" indent="-457200">
              <a:buFont typeface="+mj-lt"/>
              <a:buAutoNum type="arabicPeriod"/>
            </a:pPr>
            <a:r>
              <a:rPr lang="zh-CN" altLang="en-US" sz="2000" dirty="0">
                <a:solidFill>
                  <a:schemeClr val="tx2">
                    <a:lumMod val="75000"/>
                  </a:schemeClr>
                </a:solidFill>
                <a:ea typeface="迷你简菱心" panose="02010609000101010101"/>
              </a:rPr>
              <a:t>创建⼀个</a:t>
            </a:r>
            <a:r>
              <a:rPr lang="en-US" altLang="zh-CN" sz="2000" dirty="0">
                <a:solidFill>
                  <a:schemeClr val="tx2">
                    <a:lumMod val="75000"/>
                  </a:schemeClr>
                </a:solidFill>
                <a:ea typeface="迷你简菱心" panose="02010609000101010101"/>
              </a:rPr>
              <a:t>NAT</a:t>
            </a:r>
            <a:r>
              <a:rPr lang="zh-CN" altLang="en-US" sz="2000" dirty="0">
                <a:solidFill>
                  <a:schemeClr val="tx2">
                    <a:lumMod val="75000"/>
                  </a:schemeClr>
                </a:solidFill>
                <a:ea typeface="迷你简菱心" panose="02010609000101010101"/>
              </a:rPr>
              <a:t>池</a:t>
            </a:r>
            <a:r>
              <a:rPr lang="en-US" altLang="zh-CN" sz="2000" dirty="0" err="1">
                <a:solidFill>
                  <a:schemeClr val="tx2">
                    <a:lumMod val="75000"/>
                  </a:schemeClr>
                </a:solidFill>
                <a:ea typeface="迷你简菱心" panose="02010609000101010101"/>
              </a:rPr>
              <a:t>tongji</a:t>
            </a:r>
            <a:r>
              <a:rPr lang="zh-CN" altLang="en-US" sz="2000" dirty="0">
                <a:solidFill>
                  <a:schemeClr val="tx2">
                    <a:lumMod val="75000"/>
                  </a:schemeClr>
                </a:solidFill>
                <a:ea typeface="迷你简菱心" panose="02010609000101010101"/>
              </a:rPr>
              <a:t>，⾥⾯包含剩下的两个公⽹</a:t>
            </a:r>
            <a:r>
              <a:rPr lang="en-US" altLang="zh-CN" sz="2000" dirty="0">
                <a:solidFill>
                  <a:schemeClr val="tx2">
                    <a:lumMod val="75000"/>
                  </a:schemeClr>
                </a:solidFill>
                <a:ea typeface="迷你简菱心" panose="02010609000101010101"/>
              </a:rPr>
              <a:t>IP</a:t>
            </a:r>
          </a:p>
          <a:p>
            <a:pPr marL="457200" indent="-457200">
              <a:buFont typeface="+mj-lt"/>
              <a:buAutoNum type="arabicPeriod"/>
            </a:pPr>
            <a:r>
              <a:rPr lang="zh-CN" altLang="en-US" sz="2000" dirty="0">
                <a:solidFill>
                  <a:schemeClr val="tx2">
                    <a:lumMod val="75000"/>
                  </a:schemeClr>
                </a:solidFill>
                <a:ea typeface="迷你简菱心" panose="02010609000101010101"/>
              </a:rPr>
              <a:t>创建⼀个</a:t>
            </a:r>
            <a:r>
              <a:rPr lang="en-US" altLang="zh-CN" sz="2000" dirty="0">
                <a:solidFill>
                  <a:schemeClr val="tx2">
                    <a:lumMod val="75000"/>
                  </a:schemeClr>
                </a:solidFill>
                <a:ea typeface="迷你简菱心" panose="02010609000101010101"/>
              </a:rPr>
              <a:t>192.168</a:t>
            </a:r>
            <a:r>
              <a:rPr lang="zh-CN" altLang="en-US" sz="2000" dirty="0">
                <a:solidFill>
                  <a:schemeClr val="tx2">
                    <a:lumMod val="75000"/>
                  </a:schemeClr>
                </a:solidFill>
                <a:ea typeface="迷你简菱心" panose="02010609000101010101"/>
              </a:rPr>
              <a:t>打头的</a:t>
            </a:r>
            <a:r>
              <a:rPr lang="en-US" altLang="zh-CN" sz="2000" dirty="0">
                <a:solidFill>
                  <a:schemeClr val="tx2">
                    <a:lumMod val="75000"/>
                  </a:schemeClr>
                </a:solidFill>
                <a:ea typeface="迷你简菱心" panose="02010609000101010101"/>
              </a:rPr>
              <a:t>IP</a:t>
            </a:r>
            <a:r>
              <a:rPr lang="zh-CN" altLang="en-US" sz="2000" dirty="0">
                <a:solidFill>
                  <a:schemeClr val="tx2">
                    <a:lumMod val="75000"/>
                  </a:schemeClr>
                </a:solidFill>
                <a:ea typeface="迷你简菱心" panose="02010609000101010101"/>
              </a:rPr>
              <a:t>地址都包括在内的访问列表</a:t>
            </a:r>
          </a:p>
          <a:p>
            <a:pPr marL="457200" indent="-457200">
              <a:buFont typeface="+mj-lt"/>
              <a:buAutoNum type="arabicPeriod"/>
            </a:pPr>
            <a:r>
              <a:rPr lang="zh-CN" altLang="en-US" sz="2000" dirty="0">
                <a:solidFill>
                  <a:schemeClr val="tx2">
                    <a:lumMod val="75000"/>
                  </a:schemeClr>
                </a:solidFill>
                <a:ea typeface="迷你简菱心" panose="02010609000101010101"/>
              </a:rPr>
              <a:t>将两者对应上，使得内⽹的主机可以复⽤</a:t>
            </a:r>
            <a:r>
              <a:rPr lang="en-US" altLang="zh-CN" sz="2000" dirty="0">
                <a:solidFill>
                  <a:schemeClr val="tx2">
                    <a:lumMod val="75000"/>
                  </a:schemeClr>
                </a:solidFill>
                <a:ea typeface="迷你简菱心" panose="02010609000101010101"/>
              </a:rPr>
              <a:t>NAT</a:t>
            </a:r>
            <a:r>
              <a:rPr lang="zh-CN" altLang="en-US" sz="2000" dirty="0">
                <a:solidFill>
                  <a:schemeClr val="tx2">
                    <a:lumMod val="75000"/>
                  </a:schemeClr>
                </a:solidFill>
                <a:ea typeface="迷你简菱心" panose="02010609000101010101"/>
              </a:rPr>
              <a:t>池中的地址，并访问外⽹</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496062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15" name="图片 14">
            <a:extLst>
              <a:ext uri="{FF2B5EF4-FFF2-40B4-BE49-F238E27FC236}">
                <a16:creationId xmlns:a16="http://schemas.microsoft.com/office/drawing/2014/main" id="{DDF88DBA-2793-07A7-4EED-B8B78D083316}"/>
              </a:ext>
            </a:extLst>
          </p:cNvPr>
          <p:cNvPicPr>
            <a:picLocks noChangeAspect="1"/>
          </p:cNvPicPr>
          <p:nvPr/>
        </p:nvPicPr>
        <p:blipFill>
          <a:blip r:embed="rId10"/>
          <a:stretch>
            <a:fillRect/>
          </a:stretch>
        </p:blipFill>
        <p:spPr>
          <a:xfrm>
            <a:off x="1775520" y="2420888"/>
            <a:ext cx="8557808" cy="1052528"/>
          </a:xfrm>
          <a:prstGeom prst="rect">
            <a:avLst/>
          </a:prstGeom>
        </p:spPr>
      </p:pic>
      <p:pic>
        <p:nvPicPr>
          <p:cNvPr id="25" name="图片 24">
            <a:extLst>
              <a:ext uri="{FF2B5EF4-FFF2-40B4-BE49-F238E27FC236}">
                <a16:creationId xmlns:a16="http://schemas.microsoft.com/office/drawing/2014/main" id="{10AA1E5A-A4F8-F16F-667B-6CACB4A2E141}"/>
              </a:ext>
            </a:extLst>
          </p:cNvPr>
          <p:cNvPicPr>
            <a:picLocks noChangeAspect="1"/>
          </p:cNvPicPr>
          <p:nvPr/>
        </p:nvPicPr>
        <p:blipFill>
          <a:blip r:embed="rId11"/>
          <a:stretch>
            <a:fillRect/>
          </a:stretch>
        </p:blipFill>
        <p:spPr>
          <a:xfrm>
            <a:off x="1817545" y="4956915"/>
            <a:ext cx="8680733" cy="115464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7887" y="399268"/>
            <a:ext cx="566181"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03</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425" y="1340485"/>
            <a:ext cx="4507230" cy="3711575"/>
          </a:xfrm>
          <a:prstGeom prst="rect">
            <a:avLst/>
          </a:prstGeom>
          <a:noFill/>
        </p:spPr>
        <p:txBody>
          <a:bodyPr wrap="square" rtlCol="0">
            <a:noAutofit/>
          </a:bodyPr>
          <a:lstStyle/>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静态路由配置</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Router1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上，静态路由配置指令是用来确保网络流量能从一个接口传输到另一个特定的接口。另外，还配置了指向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100.80.195.0/24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和</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120.30.0.0/16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网段的路由，这些是通过序列接口发送，用于连接不同网络。</a:t>
            </a:r>
          </a:p>
        </p:txBody>
      </p:sp>
      <p:sp>
        <p:nvSpPr>
          <p:cNvPr id="3" name="圆角矩形 13"/>
          <p:cNvSpPr/>
          <p:nvPr>
            <p:custDataLst>
              <p:tags r:id="rId1"/>
            </p:custDataLst>
          </p:nvPr>
        </p:nvSpPr>
        <p:spPr>
          <a:xfrm>
            <a:off x="479425" y="1196975"/>
            <a:ext cx="11356975" cy="4960620"/>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477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各项配置</a:t>
            </a:r>
            <a:endParaRPr lang="zh-CN" altLang="en-US" sz="3200" b="1" spc="600" dirty="0">
              <a:solidFill>
                <a:srgbClr val="0B5AA8"/>
              </a:solidFill>
              <a:ea typeface="迷你简菱心" panose="02010609000101010101" pitchFamily="49" charset="-122"/>
            </a:endParaRPr>
          </a:p>
        </p:txBody>
      </p:sp>
      <p:pic>
        <p:nvPicPr>
          <p:cNvPr id="8" name="图片 7" descr="image-29"/>
          <p:cNvPicPr>
            <a:picLocks noChangeAspect="1"/>
          </p:cNvPicPr>
          <p:nvPr/>
        </p:nvPicPr>
        <p:blipFill>
          <a:blip r:embed="rId10"/>
          <a:stretch>
            <a:fillRect/>
          </a:stretch>
        </p:blipFill>
        <p:spPr>
          <a:xfrm>
            <a:off x="5303520" y="1739265"/>
            <a:ext cx="6453505" cy="4126865"/>
          </a:xfrm>
          <a:prstGeom prst="rect">
            <a:avLst/>
          </a:prstGeom>
        </p:spPr>
      </p:pic>
      <p:pic>
        <p:nvPicPr>
          <p:cNvPr id="15" name="图片 14"/>
          <p:cNvPicPr>
            <a:picLocks noChangeAspect="1"/>
          </p:cNvPicPr>
          <p:nvPr/>
        </p:nvPicPr>
        <p:blipFill>
          <a:blip r:embed="rId11"/>
          <a:stretch>
            <a:fillRect/>
          </a:stretch>
        </p:blipFill>
        <p:spPr>
          <a:xfrm>
            <a:off x="1271270" y="3933190"/>
            <a:ext cx="3709035" cy="19767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1" y="-13219"/>
            <a:ext cx="12190476" cy="6871219"/>
          </a:xfrm>
          <a:prstGeom prst="rect">
            <a:avLst/>
          </a:prstGeom>
        </p:spPr>
      </p:pic>
      <p:grpSp>
        <p:nvGrpSpPr>
          <p:cNvPr id="20" name="组合 19"/>
          <p:cNvGrpSpPr/>
          <p:nvPr/>
        </p:nvGrpSpPr>
        <p:grpSpPr>
          <a:xfrm>
            <a:off x="3632842" y="908720"/>
            <a:ext cx="4494267" cy="1317770"/>
            <a:chOff x="9483436" y="3338490"/>
            <a:chExt cx="2493150" cy="731020"/>
          </a:xfrm>
        </p:grpSpPr>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2" name="图片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4" name="文本框 23"/>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grpSp>
        <p:nvGrpSpPr>
          <p:cNvPr id="25" name="组合 24"/>
          <p:cNvGrpSpPr/>
          <p:nvPr/>
        </p:nvGrpSpPr>
        <p:grpSpPr>
          <a:xfrm>
            <a:off x="1055440" y="2428980"/>
            <a:ext cx="9649072" cy="2881741"/>
            <a:chOff x="1271458" y="2418031"/>
            <a:chExt cx="9649072" cy="2881741"/>
          </a:xfrm>
        </p:grpSpPr>
        <p:sp>
          <p:nvSpPr>
            <p:cNvPr id="26" name="文本框 25"/>
            <p:cNvSpPr txBox="1"/>
            <p:nvPr/>
          </p:nvSpPr>
          <p:spPr>
            <a:xfrm>
              <a:off x="1271458" y="2418031"/>
              <a:ext cx="9592945" cy="922020"/>
            </a:xfrm>
            <a:prstGeom prst="rect">
              <a:avLst/>
            </a:prstGeom>
            <a:noFill/>
          </p:spPr>
          <p:txBody>
            <a:bodyPr wrap="square" rtlCol="0">
              <a:spAutoFit/>
            </a:bodyPr>
            <a:lstStyle/>
            <a:p>
              <a:pPr algn="ctr"/>
              <a:r>
                <a:rPr lang="zh-CN" altLang="en-US" sz="5400" b="1" dirty="0">
                  <a:solidFill>
                    <a:schemeClr val="bg1"/>
                  </a:solidFill>
                  <a:latin typeface="黑体" panose="02010609060101010101" charset="-122"/>
                  <a:ea typeface="黑体" panose="02010609060101010101" charset="-122"/>
                </a:rPr>
                <a:t>测试与验证</a:t>
              </a:r>
            </a:p>
          </p:txBody>
        </p:sp>
        <p:cxnSp>
          <p:nvCxnSpPr>
            <p:cNvPr id="27" name="直接连接符 26"/>
            <p:cNvCxnSpPr/>
            <p:nvPr/>
          </p:nvCxnSpPr>
          <p:spPr>
            <a:xfrm>
              <a:off x="1271458" y="4725144"/>
              <a:ext cx="964907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003641" y="4906716"/>
              <a:ext cx="184730" cy="393056"/>
            </a:xfrm>
            <a:prstGeom prst="rect">
              <a:avLst/>
            </a:prstGeom>
            <a:noFill/>
          </p:spPr>
          <p:txBody>
            <a:bodyPr wrap="none" rtlCol="0">
              <a:spAutoFit/>
            </a:bodyPr>
            <a:lstStyle/>
            <a:p>
              <a:pPr algn="ctr">
                <a:lnSpc>
                  <a:spcPct val="126000"/>
                </a:lnSpc>
              </a:pPr>
              <a:endParaRPr lang="zh-CN" altLang="en-US" b="1" dirty="0">
                <a:solidFill>
                  <a:schemeClr val="bg1"/>
                </a:solidFill>
                <a:latin typeface="黑体" panose="02010609060101010101" charset="-122"/>
                <a:ea typeface="黑体" panose="02010609060101010101" charset="-122"/>
              </a:endParaRPr>
            </a:p>
          </p:txBody>
        </p:sp>
      </p:grpSp>
      <p:pic>
        <p:nvPicPr>
          <p:cNvPr id="30" name="图片 29"/>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246245"/>
          </a:xfrm>
          <a:prstGeom prst="rect">
            <a:avLst/>
          </a:prstGeom>
          <a:noFill/>
        </p:spPr>
        <p:txBody>
          <a:bodyPr wrap="square" rtlCol="0">
            <a:spAutoFit/>
          </a:bodyPr>
          <a:lstStyle/>
          <a:p>
            <a:pPr marL="0" marR="0" algn="just">
              <a:spcBef>
                <a:spcPts val="0"/>
              </a:spcBef>
              <a:spcAft>
                <a:spcPts val="0"/>
              </a:spcAft>
            </a:pPr>
            <a:r>
              <a:rPr lang="en-US" altLang="zh-CN"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 ICMP</a:t>
            </a:r>
            <a:r>
              <a:rPr lang="zh-CN" altLang="en-US"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网络连通性测试</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以下情况可以互通：</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相同部门相同办公室终端之间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B.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自己所在部门的服务器与终端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C.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内网终端对外网终端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D.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内网终端对外网服务器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E.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内网终端到内网核心服务器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由于</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限制，以下情况不互通：</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不同部门</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终端</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B.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相同部门不同</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办公室终端之间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不同部门的服务器与终端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外网终端对内网终端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外网终端到内网部门服务器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外网终端到内网核心服务器</a:t>
            </a: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8" name="图片 7" descr="501"/>
          <p:cNvPicPr>
            <a:picLocks noChangeAspect="1"/>
          </p:cNvPicPr>
          <p:nvPr/>
        </p:nvPicPr>
        <p:blipFill>
          <a:blip r:embed="rId10"/>
          <a:stretch>
            <a:fillRect/>
          </a:stretch>
        </p:blipFill>
        <p:spPr>
          <a:xfrm>
            <a:off x="4625975" y="1196975"/>
            <a:ext cx="7232015" cy="5067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799965"/>
          </a:xfrm>
          <a:prstGeom prst="rect">
            <a:avLst/>
          </a:prstGeom>
          <a:noFill/>
        </p:spPr>
        <p:txBody>
          <a:bodyPr wrap="square" rtlCol="0">
            <a:spAutoFit/>
          </a:bodyPr>
          <a:lstStyle/>
          <a:p>
            <a:pPr marL="0" marR="0" algn="just">
              <a:spcBef>
                <a:spcPts val="0"/>
              </a:spcBef>
              <a:spcAft>
                <a:spcPts val="0"/>
              </a:spcAft>
            </a:pPr>
            <a:r>
              <a:rPr lang="en-US" altLang="zh-CN"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 </a:t>
            </a:r>
            <a:r>
              <a:rPr lang="en-US" altLang="zh-CN"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ICMP</a:t>
            </a:r>
            <a:r>
              <a:rPr lang="zh-CN" altLang="en-US"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网络连通性测试</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以下情况可以互通：</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相同部门相同办公室终端之间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B.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自己所在部门的服务器与终端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C.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内网终端对外网终端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D.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内网终端对外网服务器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E.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内网终端到内网核心服务器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由于</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限制，以下情况不互通：</a:t>
            </a: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不同部门</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终端</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B.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相同部门不同</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办公室终端之间</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C.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不同部门的服务器与终端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D.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外网终端对内网终端</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E.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外网终端到内网部门服务器</a:t>
            </a:r>
            <a:endPar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外网终端到内网核心服务器</a:t>
            </a:r>
          </a:p>
          <a:p>
            <a:pPr marL="0" marR="0" algn="just">
              <a:spcBef>
                <a:spcPts val="0"/>
              </a:spcBef>
              <a:spcAft>
                <a:spcPts val="0"/>
              </a:spcAft>
            </a:pPr>
            <a:endPar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右图是外网</a:t>
            </a:r>
            <a:r>
              <a:rPr lang="en-US" altLang="zh-CN"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IP </a:t>
            </a:r>
            <a:r>
              <a:rPr lang="zh-CN" altLang="en-US"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连通核心层服务器示意图</a:t>
            </a: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14" name="图片 13" descr="image-41"/>
          <p:cNvPicPr>
            <a:picLocks noChangeAspect="1"/>
          </p:cNvPicPr>
          <p:nvPr/>
        </p:nvPicPr>
        <p:blipFill>
          <a:blip r:embed="rId10"/>
          <a:stretch>
            <a:fillRect/>
          </a:stretch>
        </p:blipFill>
        <p:spPr>
          <a:xfrm>
            <a:off x="7364095" y="1212215"/>
            <a:ext cx="4523105" cy="49917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4707890"/>
          </a:xfrm>
          <a:prstGeom prst="rect">
            <a:avLst/>
          </a:prstGeom>
          <a:noFill/>
        </p:spPr>
        <p:txBody>
          <a:bodyPr wrap="square" rtlCol="0">
            <a:spAutoFit/>
          </a:bodyPr>
          <a:lstStyle/>
          <a:p>
            <a:pPr marL="0" marR="0" algn="just">
              <a:spcBef>
                <a:spcPts val="0"/>
              </a:spcBef>
              <a:spcAft>
                <a:spcPts val="0"/>
              </a:spcAft>
            </a:pP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2. Web</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服务测试</a:t>
            </a:r>
          </a:p>
          <a:p>
            <a:pPr marL="0" marR="0" algn="just">
              <a:spcBef>
                <a:spcPts val="0"/>
              </a:spcBef>
              <a:spcAft>
                <a:spcPts val="0"/>
              </a:spcAft>
            </a:pPr>
            <a:endPar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以下情况可以互通：</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内网终端到本部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服务器</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B.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内网终端到内网核心</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服务器</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C.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服务器</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D.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外网终端到内网核心</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服务器</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由于</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限制，以下情况不互通：</a:t>
            </a: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内网终端到内网其他部门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服务器</a:t>
            </a: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右侧示意图是内网核心</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Web</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服务器</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为外网终端提供服务示意图</a:t>
            </a: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15" name="图片 14"/>
          <p:cNvPicPr>
            <a:picLocks noChangeAspect="1"/>
          </p:cNvPicPr>
          <p:nvPr/>
        </p:nvPicPr>
        <p:blipFill>
          <a:blip r:embed="rId10"/>
          <a:srcRect r="45497"/>
          <a:stretch>
            <a:fillRect/>
          </a:stretch>
        </p:blipFill>
        <p:spPr>
          <a:xfrm>
            <a:off x="6455410" y="1106170"/>
            <a:ext cx="4907280" cy="2682875"/>
          </a:xfrm>
          <a:prstGeom prst="rect">
            <a:avLst/>
          </a:prstGeom>
        </p:spPr>
      </p:pic>
      <p:pic>
        <p:nvPicPr>
          <p:cNvPr id="18" name="图片 17" descr="image-46"/>
          <p:cNvPicPr>
            <a:picLocks noChangeAspect="1"/>
          </p:cNvPicPr>
          <p:nvPr/>
        </p:nvPicPr>
        <p:blipFill>
          <a:blip r:embed="rId11"/>
          <a:stretch>
            <a:fillRect/>
          </a:stretch>
        </p:blipFill>
        <p:spPr>
          <a:xfrm>
            <a:off x="6599555" y="3789045"/>
            <a:ext cx="4811395" cy="27438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3476625"/>
          </a:xfrm>
          <a:prstGeom prst="rect">
            <a:avLst/>
          </a:prstGeom>
          <a:noFill/>
        </p:spPr>
        <p:txBody>
          <a:bodyPr wrap="square" rtlCol="0">
            <a:spAutoFit/>
          </a:bodyPr>
          <a:lstStyle/>
          <a:p>
            <a:pPr marL="0" marR="0" algn="just">
              <a:spcBef>
                <a:spcPts val="0"/>
              </a:spcBef>
              <a:spcAft>
                <a:spcPts val="0"/>
              </a:spcAft>
            </a:pP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 Email </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服务测试</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学校内部主机之间发邮件</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发送电子邮件至</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行政</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1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并回复电子邮件为例）</a:t>
            </a: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a:t>
            </a:r>
            <a:r>
              <a:rPr lang="en-US"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与学校内部之间发邮件</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外网</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PC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发送电子邮件至</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并回复电子邮件为例）</a:t>
            </a: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14" name="图片 13" descr="image-50"/>
          <p:cNvPicPr>
            <a:picLocks noChangeAspect="1"/>
          </p:cNvPicPr>
          <p:nvPr/>
        </p:nvPicPr>
        <p:blipFill>
          <a:blip r:embed="rId10"/>
          <a:stretch>
            <a:fillRect/>
          </a:stretch>
        </p:blipFill>
        <p:spPr>
          <a:xfrm>
            <a:off x="4393565" y="904875"/>
            <a:ext cx="7396480" cy="2696845"/>
          </a:xfrm>
          <a:prstGeom prst="rect">
            <a:avLst/>
          </a:prstGeom>
        </p:spPr>
      </p:pic>
      <p:pic>
        <p:nvPicPr>
          <p:cNvPr id="15" name="图片 14" descr="image-51"/>
          <p:cNvPicPr>
            <a:picLocks noChangeAspect="1"/>
          </p:cNvPicPr>
          <p:nvPr/>
        </p:nvPicPr>
        <p:blipFill>
          <a:blip r:embed="rId11"/>
          <a:stretch>
            <a:fillRect/>
          </a:stretch>
        </p:blipFill>
        <p:spPr>
          <a:xfrm>
            <a:off x="4394835" y="3850640"/>
            <a:ext cx="7402195" cy="25679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2246769"/>
          </a:xfrm>
          <a:prstGeom prst="rect">
            <a:avLst/>
          </a:prstGeom>
          <a:noFill/>
        </p:spPr>
        <p:txBody>
          <a:bodyPr wrap="square" rtlCol="0">
            <a:spAutoFit/>
          </a:bodyPr>
          <a:lstStyle/>
          <a:p>
            <a:pPr marL="0" marR="0" algn="just">
              <a:spcBef>
                <a:spcPts val="0"/>
              </a:spcBef>
              <a:spcAft>
                <a:spcPts val="0"/>
              </a:spcAft>
            </a:pP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 FTP </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服务测试</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以下情况可以互通：</a:t>
            </a:r>
          </a:p>
          <a:p>
            <a:pPr marL="457200" marR="0" indent="-457200" algn="just">
              <a:spcBef>
                <a:spcPts val="0"/>
              </a:spcBef>
              <a:spcAft>
                <a:spcPts val="0"/>
              </a:spcAft>
              <a:buAutoNum type="alphaUcPeriod"/>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访问公共</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file</a:t>
            </a:r>
          </a:p>
          <a:p>
            <a:pPr marL="457200" marR="0" indent="-457200" algn="just">
              <a:spcBef>
                <a:spcPts val="0"/>
              </a:spcBef>
              <a:spcAft>
                <a:spcPts val="0"/>
              </a:spcAft>
              <a:buAutoNum type="alphaUcPeriod"/>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访问该部门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file</a:t>
            </a:r>
          </a:p>
          <a:p>
            <a:pPr marL="457200" marR="0" indent="-457200" algn="just">
              <a:spcBef>
                <a:spcPts val="0"/>
              </a:spcBef>
              <a:spcAft>
                <a:spcPts val="0"/>
              </a:spcAft>
              <a:buAutoNum type="alphaUcPeriod"/>
            </a:pPr>
            <a:endPar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由于</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ACL</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限制，以下情况不互通：</a:t>
            </a:r>
          </a:p>
          <a:p>
            <a:pPr marL="0" marR="0" algn="just">
              <a:spcBef>
                <a:spcPts val="0"/>
              </a:spcBef>
              <a:spcAft>
                <a:spcPts val="0"/>
              </a:spcAft>
            </a:pP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A. </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访问不同部门的</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sym typeface="+mn-ea"/>
              </a:rPr>
              <a:t>file</a:t>
            </a:r>
            <a:endPar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15" name="图片 14">
            <a:extLst>
              <a:ext uri="{FF2B5EF4-FFF2-40B4-BE49-F238E27FC236}">
                <a16:creationId xmlns:a16="http://schemas.microsoft.com/office/drawing/2014/main" id="{A1787DEC-58FB-0FF1-28D2-8CCC310A18C8}"/>
              </a:ext>
            </a:extLst>
          </p:cNvPr>
          <p:cNvPicPr>
            <a:picLocks noChangeAspect="1"/>
          </p:cNvPicPr>
          <p:nvPr/>
        </p:nvPicPr>
        <p:blipFill>
          <a:blip r:embed="rId10"/>
          <a:stretch>
            <a:fillRect/>
          </a:stretch>
        </p:blipFill>
        <p:spPr>
          <a:xfrm>
            <a:off x="5923370" y="1614959"/>
            <a:ext cx="2849664" cy="2396759"/>
          </a:xfrm>
          <a:prstGeom prst="rect">
            <a:avLst/>
          </a:prstGeom>
        </p:spPr>
      </p:pic>
      <p:pic>
        <p:nvPicPr>
          <p:cNvPr id="23" name="图片 22">
            <a:extLst>
              <a:ext uri="{FF2B5EF4-FFF2-40B4-BE49-F238E27FC236}">
                <a16:creationId xmlns:a16="http://schemas.microsoft.com/office/drawing/2014/main" id="{C4C59E2A-80F4-72B9-DAF3-B4B178C84981}"/>
              </a:ext>
            </a:extLst>
          </p:cNvPr>
          <p:cNvPicPr>
            <a:picLocks noChangeAspect="1"/>
          </p:cNvPicPr>
          <p:nvPr/>
        </p:nvPicPr>
        <p:blipFill>
          <a:blip r:embed="rId11"/>
          <a:stretch>
            <a:fillRect/>
          </a:stretch>
        </p:blipFill>
        <p:spPr>
          <a:xfrm>
            <a:off x="6672064" y="4072884"/>
            <a:ext cx="3944813" cy="2307951"/>
          </a:xfrm>
          <a:prstGeom prst="rect">
            <a:avLst/>
          </a:prstGeom>
        </p:spPr>
      </p:pic>
      <p:sp>
        <p:nvSpPr>
          <p:cNvPr id="24" name="文本框 23">
            <a:extLst>
              <a:ext uri="{FF2B5EF4-FFF2-40B4-BE49-F238E27FC236}">
                <a16:creationId xmlns:a16="http://schemas.microsoft.com/office/drawing/2014/main" id="{4D562840-0B75-C8CB-E6F1-A32606FE831C}"/>
              </a:ext>
            </a:extLst>
          </p:cNvPr>
          <p:cNvSpPr txBox="1"/>
          <p:nvPr/>
        </p:nvSpPr>
        <p:spPr>
          <a:xfrm>
            <a:off x="8805284" y="3716798"/>
            <a:ext cx="2763324" cy="338554"/>
          </a:xfrm>
          <a:prstGeom prst="rect">
            <a:avLst/>
          </a:prstGeom>
          <a:noFill/>
        </p:spPr>
        <p:txBody>
          <a:bodyPr wrap="square" rtlCol="0">
            <a:spAutoFit/>
          </a:bodyPr>
          <a:lstStyle/>
          <a:p>
            <a:pPr marL="0" marR="0" algn="just">
              <a:spcBef>
                <a:spcPts val="0"/>
              </a:spcBef>
              <a:spcAft>
                <a:spcPts val="0"/>
              </a:spcAft>
            </a:pP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4</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访问学院</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file</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：成功</a:t>
            </a:r>
            <a:endParaRPr lang="zh-CN" altLang="en-US" sz="16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
        <p:nvSpPr>
          <p:cNvPr id="25" name="文本框 24">
            <a:extLst>
              <a:ext uri="{FF2B5EF4-FFF2-40B4-BE49-F238E27FC236}">
                <a16:creationId xmlns:a16="http://schemas.microsoft.com/office/drawing/2014/main" id="{8BFBE05F-8815-C646-9C34-6A3966B5EE84}"/>
              </a:ext>
            </a:extLst>
          </p:cNvPr>
          <p:cNvSpPr txBox="1"/>
          <p:nvPr/>
        </p:nvSpPr>
        <p:spPr>
          <a:xfrm>
            <a:off x="6157911" y="1239650"/>
            <a:ext cx="2670721" cy="338554"/>
          </a:xfrm>
          <a:prstGeom prst="rect">
            <a:avLst/>
          </a:prstGeom>
          <a:noFill/>
        </p:spPr>
        <p:txBody>
          <a:bodyPr wrap="square" rtlCol="0">
            <a:spAutoFit/>
          </a:bodyPr>
          <a:lstStyle/>
          <a:p>
            <a:pPr marL="0" marR="0" algn="just">
              <a:spcBef>
                <a:spcPts val="0"/>
              </a:spcBef>
              <a:spcAft>
                <a:spcPts val="0"/>
              </a:spcAft>
            </a:pP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3</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访问机房</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file</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：成功</a:t>
            </a:r>
            <a:endParaRPr lang="zh-CN" altLang="en-US" sz="16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pic>
        <p:nvPicPr>
          <p:cNvPr id="27" name="图片 26">
            <a:extLst>
              <a:ext uri="{FF2B5EF4-FFF2-40B4-BE49-F238E27FC236}">
                <a16:creationId xmlns:a16="http://schemas.microsoft.com/office/drawing/2014/main" id="{FEBBBD60-D4E1-5F21-9D23-0395C4AD5340}"/>
              </a:ext>
            </a:extLst>
          </p:cNvPr>
          <p:cNvPicPr>
            <a:picLocks noChangeAspect="1"/>
          </p:cNvPicPr>
          <p:nvPr/>
        </p:nvPicPr>
        <p:blipFill>
          <a:blip r:embed="rId12"/>
          <a:stretch>
            <a:fillRect/>
          </a:stretch>
        </p:blipFill>
        <p:spPr>
          <a:xfrm>
            <a:off x="2614223" y="4091434"/>
            <a:ext cx="3519988" cy="2733607"/>
          </a:xfrm>
          <a:prstGeom prst="rect">
            <a:avLst/>
          </a:prstGeom>
        </p:spPr>
      </p:pic>
      <p:sp>
        <p:nvSpPr>
          <p:cNvPr id="28" name="文本框 27">
            <a:extLst>
              <a:ext uri="{FF2B5EF4-FFF2-40B4-BE49-F238E27FC236}">
                <a16:creationId xmlns:a16="http://schemas.microsoft.com/office/drawing/2014/main" id="{0E34D23C-ED68-F33D-2631-3B918CF71E09}"/>
              </a:ext>
            </a:extLst>
          </p:cNvPr>
          <p:cNvSpPr txBox="1"/>
          <p:nvPr/>
        </p:nvSpPr>
        <p:spPr>
          <a:xfrm>
            <a:off x="3172435" y="3728446"/>
            <a:ext cx="2872191" cy="338554"/>
          </a:xfrm>
          <a:prstGeom prst="rect">
            <a:avLst/>
          </a:prstGeom>
          <a:noFill/>
        </p:spPr>
        <p:txBody>
          <a:bodyPr wrap="square" rtlCol="0">
            <a:spAutoFit/>
          </a:bodyPr>
          <a:lstStyle/>
          <a:p>
            <a:pPr marL="0" marR="0" algn="just">
              <a:spcBef>
                <a:spcPts val="0"/>
              </a:spcBef>
              <a:spcAft>
                <a:spcPts val="0"/>
              </a:spcAft>
            </a:pP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学院</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0</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访问行政</a:t>
            </a:r>
            <a:r>
              <a:rPr lang="en-US" altLang="zh-CN"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file</a:t>
            </a:r>
            <a:r>
              <a:rPr lang="zh-CN" altLang="en-US" sz="16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：失败</a:t>
            </a:r>
            <a:endParaRPr lang="zh-CN" altLang="en-US" sz="16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1" y="0"/>
            <a:ext cx="12191999" cy="6858000"/>
          </a:xfrm>
          <a:ln>
            <a:solidFill>
              <a:schemeClr val="accent1"/>
            </a:solidFill>
          </a:ln>
        </p:spPr>
      </p:pic>
      <p:sp>
        <p:nvSpPr>
          <p:cNvPr id="9" name="矩形 8"/>
          <p:cNvSpPr/>
          <p:nvPr/>
        </p:nvSpPr>
        <p:spPr>
          <a:xfrm rot="13500000">
            <a:off x="1338014" y="553189"/>
            <a:ext cx="291422" cy="291423"/>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0" name="矩形 9"/>
          <p:cNvSpPr/>
          <p:nvPr/>
        </p:nvSpPr>
        <p:spPr>
          <a:xfrm rot="13500000">
            <a:off x="1591471" y="587059"/>
            <a:ext cx="223681" cy="223682"/>
          </a:xfrm>
          <a:prstGeom prst="rect">
            <a:avLst/>
          </a:prstGeom>
          <a:solidFill>
            <a:srgbClr val="0B5AA8"/>
          </a:solidFill>
          <a:ln>
            <a:noFill/>
          </a:ln>
          <a:effectLst>
            <a:outerShdw blurRad="63500" algn="ctr" rotWithShape="0">
              <a:prstClr val="black">
                <a:alpha val="40000"/>
              </a:prstClr>
            </a:outerShdw>
          </a:effec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black"/>
              </a:solidFill>
              <a:effectLst/>
              <a:uLnTx/>
              <a:uFillTx/>
              <a:latin typeface="Agency FB" panose="020B0503020202020204" pitchFamily="34" charset="0"/>
              <a:ea typeface="宋体" panose="02010600030101010101" pitchFamily="2" charset="-122"/>
              <a:cs typeface="+mn-cs"/>
            </a:endParaRPr>
          </a:p>
        </p:txBody>
      </p:sp>
      <p:sp>
        <p:nvSpPr>
          <p:cNvPr id="11" name="圆角矩形 3"/>
          <p:cNvSpPr/>
          <p:nvPr/>
        </p:nvSpPr>
        <p:spPr>
          <a:xfrm rot="2700000">
            <a:off x="451479" y="347642"/>
            <a:ext cx="702516" cy="702516"/>
          </a:xfrm>
          <a:prstGeom prst="round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009C96"/>
              </a:solidFill>
              <a:effectLst/>
              <a:uLnTx/>
              <a:uFillTx/>
              <a:latin typeface="Calibri" panose="020F0502020204030204"/>
              <a:ea typeface="宋体" panose="02010600030101010101" pitchFamily="2" charset="-122"/>
              <a:cs typeface="+mn-cs"/>
            </a:endParaRPr>
          </a:p>
        </p:txBody>
      </p:sp>
      <p:sp>
        <p:nvSpPr>
          <p:cNvPr id="12" name="矩形 11"/>
          <p:cNvSpPr/>
          <p:nvPr/>
        </p:nvSpPr>
        <p:spPr>
          <a:xfrm>
            <a:off x="508688" y="399268"/>
            <a:ext cx="564578" cy="58477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0B5AA8"/>
                </a:solidFill>
                <a:effectLst/>
                <a:uLnTx/>
                <a:uFillTx/>
                <a:latin typeface="Agency FB" panose="020B0503020202020204" pitchFamily="34" charset="0"/>
                <a:ea typeface="Open Sans" panose="020B0606030504020204" pitchFamily="34" charset="0"/>
                <a:cs typeface="Open Sans" panose="020B0606030504020204" pitchFamily="34" charset="0"/>
              </a:rPr>
              <a:t>04</a:t>
            </a:r>
            <a:endParaRPr kumimoji="0" lang="zh-CN" altLang="en-US" sz="3200" b="1" i="0" u="none" strike="noStrike" kern="1200" cap="none" spc="0" normalizeH="0" baseline="0" noProof="0" dirty="0">
              <a:ln>
                <a:noFill/>
              </a:ln>
              <a:solidFill>
                <a:srgbClr val="0B5AA8"/>
              </a:solidFill>
              <a:effectLst/>
              <a:uLnTx/>
              <a:uFillTx/>
              <a:latin typeface="Agency FB" panose="020B0503020202020204" pitchFamily="34" charset="0"/>
              <a:ea typeface="宋体" panose="02010600030101010101" pitchFamily="2" charset="-122"/>
              <a:cs typeface="+mn-cs"/>
            </a:endParaRPr>
          </a:p>
        </p:txBody>
      </p:sp>
      <p:sp>
        <p:nvSpPr>
          <p:cNvPr id="13" name="文本占位符 4"/>
          <p:cNvSpPr txBox="1"/>
          <p:nvPr/>
        </p:nvSpPr>
        <p:spPr>
          <a:xfrm>
            <a:off x="1935445" y="389135"/>
            <a:ext cx="6893188" cy="6195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defRPr/>
            </a:pPr>
            <a:endParaRPr kumimoji="0" lang="zh-CN" altLang="en-US" sz="3200" b="1" i="0" u="none" strike="noStrike" kern="1200" cap="none" spc="600" normalizeH="0" baseline="0" noProof="0" dirty="0">
              <a:ln>
                <a:noFill/>
              </a:ln>
              <a:solidFill>
                <a:srgbClr val="0B5AA8"/>
              </a:solidFill>
              <a:effectLst/>
              <a:uLnTx/>
              <a:uFillTx/>
              <a:latin typeface="迷你简菱心" panose="02010609000101010101" pitchFamily="49" charset="-122"/>
              <a:ea typeface="迷你简菱心" panose="02010609000101010101" pitchFamily="49" charset="-122"/>
              <a:cs typeface="+mn-cs"/>
            </a:endParaRPr>
          </a:p>
        </p:txBody>
      </p:sp>
      <p:pic>
        <p:nvPicPr>
          <p:cNvPr id="16" name="图片 15"/>
          <p:cNvPicPr>
            <a:picLocks noChangeAspect="1"/>
          </p:cNvPicPr>
          <p:nvPr/>
        </p:nvPicPr>
        <p:blipFill rotWithShape="1">
          <a:blip r:embed="rId6" cstate="print">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l="20422" t="9576" r="21221"/>
          <a:stretch>
            <a:fillRect/>
          </a:stretch>
        </p:blipFill>
        <p:spPr>
          <a:xfrm>
            <a:off x="386685" y="6269193"/>
            <a:ext cx="1281792" cy="418134"/>
          </a:xfrm>
          <a:prstGeom prst="rect">
            <a:avLst/>
          </a:prstGeom>
        </p:spPr>
      </p:pic>
      <p:grpSp>
        <p:nvGrpSpPr>
          <p:cNvPr id="17" name="组合 16"/>
          <p:cNvGrpSpPr/>
          <p:nvPr/>
        </p:nvGrpSpPr>
        <p:grpSpPr>
          <a:xfrm>
            <a:off x="9218934" y="274638"/>
            <a:ext cx="2545960" cy="731019"/>
            <a:chOff x="9488724" y="3354030"/>
            <a:chExt cx="2545960" cy="731019"/>
          </a:xfrm>
        </p:grpSpPr>
        <p:pic>
          <p:nvPicPr>
            <p:cNvPr id="20" name="图片 19"/>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a:xfrm>
              <a:off x="9488724" y="3354030"/>
              <a:ext cx="731583" cy="731019"/>
            </a:xfrm>
            <a:prstGeom prst="rect">
              <a:avLst/>
            </a:prstGeom>
          </p:spPr>
        </p:pic>
        <p:pic>
          <p:nvPicPr>
            <p:cNvPr id="21" name="图片 20"/>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a:xfrm>
              <a:off x="10327902" y="3370713"/>
              <a:ext cx="1643775" cy="512858"/>
            </a:xfrm>
            <a:prstGeom prst="rect">
              <a:avLst/>
            </a:prstGeom>
          </p:spPr>
        </p:pic>
        <p:sp>
          <p:nvSpPr>
            <p:cNvPr id="22" name="文本框 21"/>
            <p:cNvSpPr txBox="1"/>
            <p:nvPr/>
          </p:nvSpPr>
          <p:spPr>
            <a:xfrm>
              <a:off x="10219659" y="3839761"/>
              <a:ext cx="1815025" cy="2308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altLang="zh-CN" sz="900" b="1" i="0" u="none" strike="noStrike" kern="1200" cap="none" spc="200" normalizeH="0" baseline="0" noProof="0" dirty="0">
                  <a:ln>
                    <a:noFill/>
                  </a:ln>
                  <a:solidFill>
                    <a:prstClr val="black"/>
                  </a:solidFill>
                  <a:effectLst/>
                  <a:uLnTx/>
                  <a:uFillTx/>
                  <a:latin typeface="Calibri Light" panose="020F0302020204030204" pitchFamily="34" charset="0"/>
                  <a:ea typeface="思源黑体 CN Light"/>
                  <a:cs typeface="Segoe UI Light" panose="020B0502040204020203" pitchFamily="34" charset="0"/>
                </a:rPr>
                <a:t>TONGJI UNIVERSITY</a:t>
              </a:r>
            </a:p>
          </p:txBody>
        </p:sp>
      </p:grpSp>
      <p:sp>
        <p:nvSpPr>
          <p:cNvPr id="4" name="文本框 3"/>
          <p:cNvSpPr txBox="1"/>
          <p:nvPr/>
        </p:nvSpPr>
        <p:spPr>
          <a:xfrm>
            <a:off x="479376" y="1340768"/>
            <a:ext cx="4824536" cy="1014730"/>
          </a:xfrm>
          <a:prstGeom prst="rect">
            <a:avLst/>
          </a:prstGeom>
          <a:noFill/>
        </p:spPr>
        <p:txBody>
          <a:bodyPr wrap="square" rtlCol="0">
            <a:spAutoFit/>
          </a:bodyPr>
          <a:lstStyle/>
          <a:p>
            <a:pPr marL="0" marR="0" algn="just">
              <a:spcBef>
                <a:spcPts val="0"/>
              </a:spcBef>
              <a:spcAft>
                <a:spcPts val="0"/>
              </a:spcAft>
            </a:pPr>
            <a:r>
              <a:rPr lang="en-US" altLang="zh-CN"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 IP </a:t>
            </a:r>
            <a:r>
              <a:rPr lang="zh-CN" altLang="en-US" sz="2000" b="1"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电话测试</a:t>
            </a:r>
          </a:p>
          <a:p>
            <a:pPr marL="0" marR="0" algn="just">
              <a:spcBef>
                <a:spcPts val="0"/>
              </a:spcBef>
              <a:spcAft>
                <a:spcPts val="0"/>
              </a:spcAft>
            </a:pP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在</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54001</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上对</a:t>
            </a:r>
            <a:r>
              <a:rPr lang="en-US" altLang="zh-CN"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54002</a:t>
            </a:r>
            <a:r>
              <a:rPr lang="zh-CN" altLang="en-US" sz="2000" kern="100" dirty="0">
                <a:solidFill>
                  <a:schemeClr val="tx2">
                    <a:lumMod val="75000"/>
                  </a:schemeClr>
                </a:solidFill>
                <a:latin typeface="等线" panose="02010600030101010101" pitchFamily="2" charset="-122"/>
                <a:ea typeface="迷你简菱心" panose="02010609000101010101"/>
                <a:cs typeface="Times New Roman" panose="02020603050405020304" pitchFamily="18" charset="0"/>
              </a:rPr>
              <a:t>通话，可看到电话响铃，能够正常通讯。</a:t>
            </a:r>
          </a:p>
        </p:txBody>
      </p:sp>
      <p:sp>
        <p:nvSpPr>
          <p:cNvPr id="3" name="圆角矩形 13"/>
          <p:cNvSpPr/>
          <p:nvPr>
            <p:custDataLst>
              <p:tags r:id="rId1"/>
            </p:custDataLst>
          </p:nvPr>
        </p:nvSpPr>
        <p:spPr>
          <a:xfrm>
            <a:off x="479425" y="1196975"/>
            <a:ext cx="11356975" cy="5006975"/>
          </a:xfrm>
          <a:prstGeom prst="roundRect">
            <a:avLst>
              <a:gd name="adj" fmla="val 0"/>
            </a:avLst>
          </a:prstGeom>
          <a:noFill/>
          <a:ln w="28575" cap="flat" cmpd="sng" algn="ctr">
            <a:solidFill>
              <a:schemeClr val="bg1">
                <a:lumMod val="75000"/>
              </a:schemeClr>
            </a:solid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93"/>
          <p:cNvSpPr/>
          <p:nvPr>
            <p:custDataLst>
              <p:tags r:id="rId2"/>
            </p:custDataLst>
          </p:nvPr>
        </p:nvSpPr>
        <p:spPr>
          <a:xfrm>
            <a:off x="407616" y="1124357"/>
            <a:ext cx="444459" cy="464254"/>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 name="矩形 93"/>
          <p:cNvSpPr/>
          <p:nvPr>
            <p:custDataLst>
              <p:tags r:id="rId3"/>
            </p:custDataLst>
          </p:nvPr>
        </p:nvSpPr>
        <p:spPr>
          <a:xfrm rot="10800000">
            <a:off x="11476032" y="5228936"/>
            <a:ext cx="411062" cy="436622"/>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rgbClr val="0B5AA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 name="文本框 6"/>
          <p:cNvSpPr txBox="1"/>
          <p:nvPr/>
        </p:nvSpPr>
        <p:spPr>
          <a:xfrm>
            <a:off x="1891776" y="380630"/>
            <a:ext cx="6334691" cy="583565"/>
          </a:xfrm>
          <a:prstGeom prst="rect">
            <a:avLst/>
          </a:prstGeom>
          <a:noFill/>
        </p:spPr>
        <p:txBody>
          <a:bodyPr wrap="square" rtlCol="0">
            <a:spAutoFit/>
          </a:bodyPr>
          <a:lstStyle/>
          <a:p>
            <a:pPr>
              <a:spcBef>
                <a:spcPts val="1000"/>
              </a:spcBef>
              <a:defRPr/>
            </a:pPr>
            <a:r>
              <a:rPr lang="zh-CN" altLang="en-US" sz="3200" b="1" spc="600" dirty="0">
                <a:solidFill>
                  <a:srgbClr val="0B5AA8"/>
                </a:solidFill>
                <a:latin typeface="Consolas" panose="020B0609020204030204" pitchFamily="49" charset="0"/>
                <a:ea typeface="迷你简菱心" panose="02010609000101010101" pitchFamily="49" charset="-122"/>
              </a:rPr>
              <a:t>测试与验证</a:t>
            </a:r>
          </a:p>
        </p:txBody>
      </p:sp>
      <p:pic>
        <p:nvPicPr>
          <p:cNvPr id="8" name="图片 7" descr="image-53"/>
          <p:cNvPicPr>
            <a:picLocks noChangeAspect="1"/>
          </p:cNvPicPr>
          <p:nvPr/>
        </p:nvPicPr>
        <p:blipFill>
          <a:blip r:embed="rId10"/>
          <a:stretch>
            <a:fillRect/>
          </a:stretch>
        </p:blipFill>
        <p:spPr>
          <a:xfrm>
            <a:off x="6726555" y="2580640"/>
            <a:ext cx="5109845" cy="3640455"/>
          </a:xfrm>
          <a:prstGeom prst="rect">
            <a:avLst/>
          </a:prstGeom>
        </p:spPr>
      </p:pic>
      <p:pic>
        <p:nvPicPr>
          <p:cNvPr id="15" name="图片 14" descr="image-52"/>
          <p:cNvPicPr>
            <a:picLocks noChangeAspect="1"/>
          </p:cNvPicPr>
          <p:nvPr/>
        </p:nvPicPr>
        <p:blipFill>
          <a:blip r:embed="rId11"/>
          <a:stretch>
            <a:fillRect/>
          </a:stretch>
        </p:blipFill>
        <p:spPr>
          <a:xfrm>
            <a:off x="1703070" y="2616835"/>
            <a:ext cx="5034280" cy="35871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346" y="0"/>
            <a:ext cx="12207345" cy="6866632"/>
          </a:xfrm>
        </p:spPr>
      </p:pic>
      <p:grpSp>
        <p:nvGrpSpPr>
          <p:cNvPr id="6" name="组合 5"/>
          <p:cNvGrpSpPr/>
          <p:nvPr/>
        </p:nvGrpSpPr>
        <p:grpSpPr>
          <a:xfrm>
            <a:off x="1710732" y="4428050"/>
            <a:ext cx="8633740" cy="945166"/>
            <a:chOff x="3415968" y="4212026"/>
            <a:chExt cx="5400602" cy="591223"/>
          </a:xfrm>
        </p:grpSpPr>
        <p:pic>
          <p:nvPicPr>
            <p:cNvPr id="8" name="图片 7"/>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3415968" y="4212026"/>
              <a:ext cx="2808312" cy="591223"/>
            </a:xfrm>
            <a:prstGeom prst="rect">
              <a:avLst/>
            </a:prstGeom>
          </p:spPr>
        </p:pic>
        <p:pic>
          <p:nvPicPr>
            <p:cNvPr id="9" name="图片 8"/>
            <p:cNvPicPr>
              <a:picLocks noChangeAspect="1"/>
            </p:cNvPicPr>
            <p:nvPr/>
          </p:nvPicPr>
          <p:blipFill>
            <a:blip r:embed="rId4">
              <a:biLevel thresh="75000"/>
              <a:extLst>
                <a:ext uri="{28A0092B-C50C-407E-A947-70E740481C1C}">
                  <a14:useLocalDpi xmlns:a14="http://schemas.microsoft.com/office/drawing/2010/main" val="0"/>
                </a:ext>
              </a:extLst>
            </a:blip>
            <a:stretch>
              <a:fillRect/>
            </a:stretch>
          </p:blipFill>
          <p:spPr>
            <a:xfrm>
              <a:off x="6008258" y="4212026"/>
              <a:ext cx="2808312" cy="591223"/>
            </a:xfrm>
            <a:prstGeom prst="rect">
              <a:avLst/>
            </a:prstGeom>
          </p:spPr>
        </p:pic>
      </p:grpSp>
      <p:sp>
        <p:nvSpPr>
          <p:cNvPr id="14" name="Rectangle 15"/>
          <p:cNvSpPr>
            <a:spLocks noChangeArrowheads="1"/>
          </p:cNvSpPr>
          <p:nvPr/>
        </p:nvSpPr>
        <p:spPr bwMode="auto">
          <a:xfrm>
            <a:off x="96602" y="2708920"/>
            <a:ext cx="1220734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eaLnBrk="0" hangingPunct="0">
              <a:defRPr>
                <a:solidFill>
                  <a:schemeClr val="tx1"/>
                </a:solidFill>
                <a:latin typeface="Calibri" panose="020F0502020204030204" pitchFamily="34" charset="0"/>
                <a:ea typeface="宋体" panose="02010600030101010101" pitchFamily="2" charset="-122"/>
              </a:defRPr>
            </a:lvl2pPr>
            <a:lvl3pPr eaLnBrk="0" hangingPunct="0">
              <a:defRPr>
                <a:solidFill>
                  <a:schemeClr val="tx1"/>
                </a:solidFill>
                <a:latin typeface="Calibri" panose="020F0502020204030204" pitchFamily="34" charset="0"/>
                <a:ea typeface="宋体" panose="02010600030101010101" pitchFamily="2" charset="-122"/>
              </a:defRPr>
            </a:lvl3pPr>
            <a:lvl4pPr eaLnBrk="0" hangingPunct="0">
              <a:defRPr>
                <a:solidFill>
                  <a:schemeClr val="tx1"/>
                </a:solidFill>
                <a:latin typeface="Calibri" panose="020F0502020204030204" pitchFamily="34" charset="0"/>
                <a:ea typeface="宋体" panose="02010600030101010101" pitchFamily="2" charset="-122"/>
              </a:defRPr>
            </a:lvl4pPr>
            <a:lvl5pPr eaLnBrk="0" hangingPunct="0">
              <a:defRPr>
                <a:solidFill>
                  <a:schemeClr val="tx1"/>
                </a:solidFill>
                <a:latin typeface="Calibri" panose="020F050202020403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fontAlgn="base">
              <a:spcBef>
                <a:spcPct val="0"/>
              </a:spcBef>
              <a:spcAft>
                <a:spcPct val="0"/>
              </a:spcAft>
              <a:buFont typeface="Arial" panose="020B0604020202020204" pitchFamily="34" charset="0"/>
              <a:buNone/>
            </a:pPr>
            <a:r>
              <a:rPr lang="zh-CN" altLang="en-US" sz="8000" b="1" spc="300" dirty="0">
                <a:solidFill>
                  <a:schemeClr val="bg1"/>
                </a:solidFill>
                <a:latin typeface="微软雅黑" panose="020B0503020204020204" pitchFamily="34" charset="-122"/>
                <a:ea typeface="微软雅黑" panose="020B0503020204020204" pitchFamily="34" charset="-122"/>
              </a:rPr>
              <a:t>汇报结束 感谢倾听</a:t>
            </a:r>
            <a:r>
              <a:rPr lang="zh-CN" altLang="en-US" sz="8000" b="1" i="1" spc="300" dirty="0">
                <a:solidFill>
                  <a:schemeClr val="bg1"/>
                </a:solidFill>
                <a:latin typeface="微软雅黑" panose="020B0503020204020204" pitchFamily="34" charset="-122"/>
                <a:ea typeface="微软雅黑" panose="020B0503020204020204" pitchFamily="34" charset="-122"/>
              </a:rPr>
              <a:t>！</a:t>
            </a:r>
          </a:p>
        </p:txBody>
      </p:sp>
      <p:cxnSp>
        <p:nvCxnSpPr>
          <p:cNvPr id="18" name="直接连接符 17"/>
          <p:cNvCxnSpPr/>
          <p:nvPr/>
        </p:nvCxnSpPr>
        <p:spPr>
          <a:xfrm>
            <a:off x="1540768" y="4293096"/>
            <a:ext cx="8659688"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3814357" y="1268760"/>
            <a:ext cx="4494267" cy="1317770"/>
            <a:chOff x="9483436" y="3338490"/>
            <a:chExt cx="2493150" cy="731020"/>
          </a:xfrm>
        </p:grpSpPr>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83436" y="3338490"/>
              <a:ext cx="731584" cy="731020"/>
            </a:xfrm>
            <a:prstGeom prst="rect">
              <a:avLst/>
            </a:prstGeom>
          </p:spPr>
        </p:pic>
        <p:pic>
          <p:nvPicPr>
            <p:cNvPr id="21" name="图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327901" y="3370713"/>
              <a:ext cx="1643777" cy="512858"/>
            </a:xfrm>
            <a:prstGeom prst="rect">
              <a:avLst/>
            </a:prstGeom>
          </p:spPr>
        </p:pic>
        <p:sp>
          <p:nvSpPr>
            <p:cNvPr id="22" name="文本框 21"/>
            <p:cNvSpPr txBox="1"/>
            <p:nvPr/>
          </p:nvSpPr>
          <p:spPr>
            <a:xfrm>
              <a:off x="10269803" y="3860848"/>
              <a:ext cx="1706783" cy="128052"/>
            </a:xfrm>
            <a:prstGeom prst="rect">
              <a:avLst/>
            </a:prstGeom>
            <a:noFill/>
          </p:spPr>
          <p:txBody>
            <a:bodyPr wrap="square" rtlCol="0">
              <a:spAutoFit/>
            </a:bodyPr>
            <a:lstStyle/>
            <a:p>
              <a:pPr algn="dist">
                <a:defRPr/>
              </a:pPr>
              <a:r>
                <a:rPr lang="en-US" altLang="zh-CN" sz="900" b="1" spc="200" dirty="0">
                  <a:solidFill>
                    <a:prstClr val="white"/>
                  </a:solidFill>
                  <a:latin typeface="Calibri Light" panose="020F0302020204030204" pitchFamily="34" charset="0"/>
                  <a:ea typeface="思源黑体 CN Light"/>
                  <a:cs typeface="Segoe UI Light" panose="020B0502040204020203" pitchFamily="34" charset="0"/>
                </a:rPr>
                <a:t>TONGJI UNIVERSITY</a:t>
              </a:r>
            </a:p>
          </p:txBody>
        </p:sp>
      </p:grpSp>
      <p:pic>
        <p:nvPicPr>
          <p:cNvPr id="23" name="图片 22"/>
          <p:cNvPicPr>
            <a:picLocks noChangeAspect="1"/>
          </p:cNvPicPr>
          <p:nvPr/>
        </p:nvPicPr>
        <p:blipFill>
          <a:blip r:embed="rId7" cstate="print">
            <a:lum bright="70000" contrast="-70000"/>
            <a:extLst>
              <a:ext uri="{BEBA8EAE-BF5A-486C-A8C5-ECC9F3942E4B}">
                <a14:imgProps xmlns:a14="http://schemas.microsoft.com/office/drawing/2010/main">
                  <a14:imgLayer r:embed="rId8">
                    <a14:imgEffect>
                      <a14:artisticPhotocopy detail="2"/>
                    </a14:imgEffect>
                  </a14:imgLayer>
                </a14:imgProps>
              </a:ext>
              <a:ext uri="{28A0092B-C50C-407E-A947-70E740481C1C}">
                <a14:useLocalDpi xmlns:a14="http://schemas.microsoft.com/office/drawing/2010/main" val="0"/>
              </a:ext>
            </a:extLst>
          </a:blip>
          <a:srcRect/>
          <a:stretch>
            <a:fillRect/>
          </a:stretch>
        </p:blipFill>
        <p:spPr>
          <a:xfrm>
            <a:off x="461371" y="6191601"/>
            <a:ext cx="1818205" cy="4372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2Y3MjU4YTE0ZmE5ZjQyNTdiMmNhYzkxODY2NzhmM2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570</TotalTime>
  <Words>3386</Words>
  <Application>Microsoft Office PowerPoint</Application>
  <PresentationFormat>宽屏</PresentationFormat>
  <Paragraphs>403</Paragraphs>
  <Slides>52</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52</vt:i4>
      </vt:variant>
    </vt:vector>
  </HeadingPairs>
  <TitlesOfParts>
    <vt:vector size="62" baseType="lpstr">
      <vt:lpstr>等线</vt:lpstr>
      <vt:lpstr>黑体</vt:lpstr>
      <vt:lpstr>迷你简菱心</vt:lpstr>
      <vt:lpstr>微软雅黑</vt:lpstr>
      <vt:lpstr>Agency FB</vt:lpstr>
      <vt:lpstr>Arial</vt:lpstr>
      <vt:lpstr>Calibri</vt:lpstr>
      <vt:lpstr>Calibri Light</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Victor</dc:creator>
  <cp:lastModifiedBy>Z200505181@outlook.com</cp:lastModifiedBy>
  <cp:revision>133</cp:revision>
  <dcterms:created xsi:type="dcterms:W3CDTF">2019-09-14T00:36:00Z</dcterms:created>
  <dcterms:modified xsi:type="dcterms:W3CDTF">2025-06-11T13:22:32Z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A258354160BB48C8B046D4BA4FF7AFA1_12</vt:lpwstr>
  </property>
  <property fmtid="{D5CDD505-2E9C-101B-9397-08002B2CF9AE}" pid="3" name="KSOProductBuildVer">
    <vt:lpwstr>2052-12.1.0.21171</vt:lpwstr>
  </property>
</Properties>
</file>